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5" r:id="rId39"/>
    <p:sldId id="296" r:id="rId40"/>
    <p:sldId id="298" r:id="rId41"/>
    <p:sldId id="299" r:id="rId42"/>
    <p:sldId id="300" r:id="rId43"/>
    <p:sldId id="301" r:id="rId44"/>
    <p:sldId id="297"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500"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D35DA-DEC0-43AC-B7B6-B98022B064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E0E654-C95D-4891-865A-70D9FCB5E9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D29498-FA20-4E42-B870-67C9448BA400}"/>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E6AFA1DB-6C29-483F-B9C3-FB8955436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D3B27-74C0-42BB-9C62-9FB71FFF44C5}"/>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4247319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BFD1-14E7-48C4-A134-FF855C5E3B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44F345-1DEA-40F4-8B74-02C7AEDDBC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16132-4BEE-44A2-A0F7-C1704245CF56}"/>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85C4D7CC-DD14-48D9-9B89-C0E55B0BA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1AF617-B7E0-4945-8113-2AA9D6E34F49}"/>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1864114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1072-B18B-4FBC-AEDF-7BD09281BC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2A02D-92A0-4ED2-8C24-D62973A31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D9F0BA-21BA-4A4A-A8BD-1C97BF29769C}"/>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6CE0AC16-DB66-4415-AF02-A83E79D69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367B7C-21B5-4E3A-8C67-84849B5C6ADC}"/>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870017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34E37-1BA4-476D-8EF0-5508A121B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211493-A21F-4ADA-94B1-60BFE1B84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52A15F-C7B7-4865-89EF-7423758108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A5B0A6-E7E4-4262-8E08-01D2C5840CE4}"/>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6" name="Footer Placeholder 5">
            <a:extLst>
              <a:ext uri="{FF2B5EF4-FFF2-40B4-BE49-F238E27FC236}">
                <a16:creationId xmlns:a16="http://schemas.microsoft.com/office/drawing/2014/main" id="{71FDC2F8-2F95-479E-A4BF-2E0F003C7C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B9C08-7299-4DC1-98F3-7DD88E53F34C}"/>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18788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197B-8761-4AD4-B485-700010F1E9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4E51FB-E8AA-48F3-8A9B-79CBB21D8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7AA330-8993-44A6-9B97-6246697F85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66B662-24DA-4570-B0D0-18212A908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BEDBA1-F8AD-46AB-8B73-0933604FF8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8E2812-732B-46C6-8195-3A8AB665A6B9}"/>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8" name="Footer Placeholder 7">
            <a:extLst>
              <a:ext uri="{FF2B5EF4-FFF2-40B4-BE49-F238E27FC236}">
                <a16:creationId xmlns:a16="http://schemas.microsoft.com/office/drawing/2014/main" id="{F2F066E8-686B-4F60-BDEF-3C38F4B869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953C04-87C3-4D6F-BC86-89F5E1F508F0}"/>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765040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FAB6-8EAB-46F0-87C2-43FB0B5550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F5711D-ABED-40FB-BC5A-4413AEB886E7}"/>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4" name="Footer Placeholder 3">
            <a:extLst>
              <a:ext uri="{FF2B5EF4-FFF2-40B4-BE49-F238E27FC236}">
                <a16:creationId xmlns:a16="http://schemas.microsoft.com/office/drawing/2014/main" id="{5A000A00-42EC-426D-9575-C29FEA1F0A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05145F-1E72-4C25-ABE2-0FC18F27D73C}"/>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207721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5F61C-6F79-46A7-A115-0C6EB647ED9F}"/>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3" name="Footer Placeholder 2">
            <a:extLst>
              <a:ext uri="{FF2B5EF4-FFF2-40B4-BE49-F238E27FC236}">
                <a16:creationId xmlns:a16="http://schemas.microsoft.com/office/drawing/2014/main" id="{68711875-5BFD-463F-9F7B-F5451E7CCD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D1821B-C7B2-4C8E-9512-D1666B3DE971}"/>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292266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9A630-0D4B-4F65-9201-027FB3DBB4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4BBE21-7819-4020-BEEE-099A93ED0A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CEF1C3-62F3-45A9-B635-9E08AF2F0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348E25-8F20-4F6A-8E2A-0F5AEEA052F5}"/>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6" name="Footer Placeholder 5">
            <a:extLst>
              <a:ext uri="{FF2B5EF4-FFF2-40B4-BE49-F238E27FC236}">
                <a16:creationId xmlns:a16="http://schemas.microsoft.com/office/drawing/2014/main" id="{5CBFD6E1-BBBD-4825-8D6A-985248B3BC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24588-AC73-4047-BBC3-7632E92EE5D9}"/>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4133362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3FC97-65E5-4BE8-94F3-0D49D0DED1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F02455-3464-4BA3-BD55-5CD860E10B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00EF1A-EBF0-45F5-BB3C-7961ED960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DA7105-4162-4D3F-B2BE-0324DAAFF794}"/>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6" name="Footer Placeholder 5">
            <a:extLst>
              <a:ext uri="{FF2B5EF4-FFF2-40B4-BE49-F238E27FC236}">
                <a16:creationId xmlns:a16="http://schemas.microsoft.com/office/drawing/2014/main" id="{8930FCE9-3C89-4C66-A7B5-C96B79092B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39402-0F44-41A4-84A9-CA10D5E4A18C}"/>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2450135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4E70B-87F4-494B-8B9D-DB5C686DB5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47EA0B-5384-4846-9C9C-2048CD64C9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807A9-8A82-4B67-8614-41F12FCF4C42}"/>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1B917427-AFE1-4FA4-B574-00ACD28F6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328F8D-3FA1-4CA5-9E8A-1FCB29EE274A}"/>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2384528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1F0F69-C3BC-404E-80A8-236883CA3D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66CEBB-F64C-4883-99CC-03B8606FD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E0BC9A-175B-4FBA-9335-86D33E28F1E9}"/>
              </a:ext>
            </a:extLst>
          </p:cNvPr>
          <p:cNvSpPr>
            <a:spLocks noGrp="1"/>
          </p:cNvSpPr>
          <p:nvPr>
            <p:ph type="dt" sz="half" idx="10"/>
          </p:nvPr>
        </p:nvSpPr>
        <p:spPr/>
        <p:txBody>
          <a:body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5777AEBA-1FC8-4CA0-9C84-8E8D54A5A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93FCD0-FF1C-418B-AB7B-EF215319CEEC}"/>
              </a:ext>
            </a:extLst>
          </p:cNvPr>
          <p:cNvSpPr>
            <a:spLocks noGrp="1"/>
          </p:cNvSpPr>
          <p:nvPr>
            <p:ph type="sldNum" sz="quarter" idx="12"/>
          </p:nvPr>
        </p:nvSpPr>
        <p:spPr/>
        <p:txBody>
          <a:bodyPr/>
          <a:lstStyle/>
          <a:p>
            <a:fld id="{F87B5BD6-0D9A-4464-A7A2-1F6170987B26}" type="slidenum">
              <a:rPr lang="en-US" smtClean="0"/>
              <a:t>‹#›</a:t>
            </a:fld>
            <a:endParaRPr lang="en-US"/>
          </a:p>
        </p:txBody>
      </p:sp>
    </p:spTree>
    <p:extLst>
      <p:ext uri="{BB962C8B-B14F-4D97-AF65-F5344CB8AC3E}">
        <p14:creationId xmlns:p14="http://schemas.microsoft.com/office/powerpoint/2010/main" val="383169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C4EF44-0D8C-4624-B7C2-F4FFB7C61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F93BCA-77A7-48FE-873B-199CD30462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1188BE-9E75-4099-BD2D-2F5591E5A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7B6B11-A74D-481A-BBCE-46DCCEBDDFD8}" type="datetimeFigureOut">
              <a:rPr lang="en-US" smtClean="0"/>
              <a:t>9/26/2026</a:t>
            </a:fld>
            <a:endParaRPr lang="en-US"/>
          </a:p>
        </p:txBody>
      </p:sp>
      <p:sp>
        <p:nvSpPr>
          <p:cNvPr id="5" name="Footer Placeholder 4">
            <a:extLst>
              <a:ext uri="{FF2B5EF4-FFF2-40B4-BE49-F238E27FC236}">
                <a16:creationId xmlns:a16="http://schemas.microsoft.com/office/drawing/2014/main" id="{F8D55E26-02EF-4608-9176-7C2C6D52C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1AAE69-68DD-4087-88AC-45FFE23F4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B5BD6-0D9A-4464-A7A2-1F6170987B26}" type="slidenum">
              <a:rPr lang="en-US" smtClean="0"/>
              <a:t>‹#›</a:t>
            </a:fld>
            <a:endParaRPr lang="en-US"/>
          </a:p>
        </p:txBody>
      </p:sp>
    </p:spTree>
    <p:extLst>
      <p:ext uri="{BB962C8B-B14F-4D97-AF65-F5344CB8AC3E}">
        <p14:creationId xmlns:p14="http://schemas.microsoft.com/office/powerpoint/2010/main" val="2613517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5" y="212485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Introduction to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23B193C1-B351-4CB2-AEE8-1A3314135D29}"/>
              </a:ext>
            </a:extLst>
          </p:cNvPr>
          <p:cNvSpPr txBox="1"/>
          <p:nvPr/>
        </p:nvSpPr>
        <p:spPr>
          <a:xfrm>
            <a:off x="3279475" y="3048181"/>
            <a:ext cx="5633049" cy="1200329"/>
          </a:xfrm>
          <a:prstGeom prst="rect">
            <a:avLst/>
          </a:prstGeom>
          <a:noFill/>
        </p:spPr>
        <p:txBody>
          <a:bodyPr wrap="square" rtlCol="0">
            <a:spAutoFit/>
          </a:bodyPr>
          <a:lstStyle/>
          <a:p>
            <a:pPr algn="ctr"/>
            <a:r>
              <a:rPr lang="en-US" dirty="0">
                <a:solidFill>
                  <a:schemeClr val="bg1"/>
                </a:solidFill>
              </a:rPr>
              <a:t>By</a:t>
            </a:r>
          </a:p>
          <a:p>
            <a:pPr algn="ctr"/>
            <a:r>
              <a:rPr lang="en-US" dirty="0">
                <a:solidFill>
                  <a:srgbClr val="FFFF00"/>
                </a:solidFill>
              </a:rPr>
              <a:t>Sajid Ahmed </a:t>
            </a:r>
            <a:r>
              <a:rPr lang="en-US" dirty="0" err="1">
                <a:solidFill>
                  <a:srgbClr val="FFFF00"/>
                </a:solidFill>
              </a:rPr>
              <a:t>Rahi</a:t>
            </a:r>
            <a:endParaRPr lang="en-US" dirty="0">
              <a:solidFill>
                <a:srgbClr val="FFFF00"/>
              </a:solidFill>
            </a:endParaRPr>
          </a:p>
          <a:p>
            <a:pPr algn="ctr"/>
            <a:r>
              <a:rPr lang="en-US" dirty="0">
                <a:solidFill>
                  <a:schemeClr val="bg1"/>
                </a:solidFill>
              </a:rPr>
              <a:t>Student of Dept. of IoT &amp; Robotics Engineering</a:t>
            </a:r>
          </a:p>
          <a:p>
            <a:pPr algn="ctr"/>
            <a:r>
              <a:rPr lang="en-US" dirty="0">
                <a:solidFill>
                  <a:schemeClr val="bg1"/>
                </a:solidFill>
              </a:rPr>
              <a:t>University of Frontier Technology, Bangladesh</a:t>
            </a:r>
          </a:p>
        </p:txBody>
      </p:sp>
    </p:spTree>
    <p:extLst>
      <p:ext uri="{BB962C8B-B14F-4D97-AF65-F5344CB8AC3E}">
        <p14:creationId xmlns:p14="http://schemas.microsoft.com/office/powerpoint/2010/main" val="4154832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What is </a:t>
            </a: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a:t>
            </a:r>
          </a:p>
        </p:txBody>
      </p:sp>
      <p:sp>
        <p:nvSpPr>
          <p:cNvPr id="5" name="TextBox 4">
            <a:extLst>
              <a:ext uri="{FF2B5EF4-FFF2-40B4-BE49-F238E27FC236}">
                <a16:creationId xmlns:a16="http://schemas.microsoft.com/office/drawing/2014/main" id="{23B193C1-B351-4CB2-AEE8-1A3314135D29}"/>
              </a:ext>
            </a:extLst>
          </p:cNvPr>
          <p:cNvSpPr txBox="1"/>
          <p:nvPr/>
        </p:nvSpPr>
        <p:spPr>
          <a:xfrm>
            <a:off x="933091" y="1453551"/>
            <a:ext cx="10325817" cy="4154984"/>
          </a:xfrm>
          <a:prstGeom prst="rect">
            <a:avLst/>
          </a:prstGeom>
          <a:noFill/>
        </p:spPr>
        <p:txBody>
          <a:bodyPr wrap="square" rtlCol="0">
            <a:spAutoFit/>
          </a:bodyPr>
          <a:lstStyle/>
          <a:p>
            <a:pPr marL="285750" indent="-285750" algn="just">
              <a:buClr>
                <a:srgbClr val="0070C0"/>
              </a:buClr>
              <a:buFont typeface="Calibri" panose="020F0502020204030204" pitchFamily="34" charset="0"/>
              <a:buChar char="●"/>
            </a:pPr>
            <a:r>
              <a:rPr lang="en-US" sz="2400" dirty="0">
                <a:solidFill>
                  <a:schemeClr val="bg1"/>
                </a:solidFill>
              </a:rPr>
              <a:t>SQL stands for </a:t>
            </a:r>
            <a:r>
              <a:rPr lang="en-US" sz="2400" dirty="0">
                <a:solidFill>
                  <a:srgbClr val="FFC000"/>
                </a:solidFill>
              </a:rPr>
              <a:t>Structured Query Language</a:t>
            </a:r>
            <a:r>
              <a:rPr lang="en-US" sz="2400" dirty="0">
                <a:solidFill>
                  <a:schemeClr val="bg1"/>
                </a:solidFill>
              </a:rPr>
              <a:t>. It is used to store, retrieve, update, and delete data in </a:t>
            </a:r>
            <a:r>
              <a:rPr lang="en-US" sz="2400" dirty="0">
                <a:solidFill>
                  <a:srgbClr val="FF00FF"/>
                </a:solidFill>
              </a:rPr>
              <a:t>Relational Database Management System (RDBMS)</a:t>
            </a:r>
            <a:r>
              <a:rPr lang="en-US" sz="2400" dirty="0">
                <a:solidFill>
                  <a:schemeClr val="bg1"/>
                </a:solidFill>
              </a:rPr>
              <a:t>.</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It is a standard language for Relational Database System. It enables a user to </a:t>
            </a:r>
            <a:r>
              <a:rPr lang="en-US" sz="2400" dirty="0">
                <a:solidFill>
                  <a:srgbClr val="FFC000"/>
                </a:solidFill>
              </a:rPr>
              <a:t>create, read, update </a:t>
            </a:r>
            <a:r>
              <a:rPr lang="en-US" sz="2400" dirty="0">
                <a:solidFill>
                  <a:schemeClr val="bg1"/>
                </a:solidFill>
              </a:rPr>
              <a:t>and</a:t>
            </a:r>
            <a:r>
              <a:rPr lang="en-US" sz="2400" dirty="0">
                <a:solidFill>
                  <a:srgbClr val="FFC000"/>
                </a:solidFill>
              </a:rPr>
              <a:t> delete </a:t>
            </a:r>
            <a:r>
              <a:rPr lang="en-US" sz="2400" dirty="0">
                <a:solidFill>
                  <a:schemeClr val="bg1"/>
                </a:solidFill>
              </a:rPr>
              <a:t>relational databases and tables.</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All the RDBMS like </a:t>
            </a:r>
            <a:r>
              <a:rPr lang="en-US" sz="2400" dirty="0">
                <a:solidFill>
                  <a:srgbClr val="FF0000"/>
                </a:solidFill>
              </a:rPr>
              <a:t>MySQL, Informix, Oracle, MS Access </a:t>
            </a:r>
            <a:r>
              <a:rPr lang="en-US" sz="2400" dirty="0">
                <a:solidFill>
                  <a:schemeClr val="bg1"/>
                </a:solidFill>
              </a:rPr>
              <a:t>and</a:t>
            </a:r>
            <a:r>
              <a:rPr lang="en-US" sz="2400" dirty="0">
                <a:solidFill>
                  <a:srgbClr val="FF0000"/>
                </a:solidFill>
              </a:rPr>
              <a:t> SQL Server</a:t>
            </a:r>
            <a:r>
              <a:rPr lang="en-US" sz="2400" dirty="0">
                <a:solidFill>
                  <a:schemeClr val="bg1"/>
                </a:solidFill>
              </a:rPr>
              <a:t> use SQL as their standard database language.</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SQL allows users to query the database in a number of ways, using English-like statements.</a:t>
            </a:r>
          </a:p>
        </p:txBody>
      </p:sp>
    </p:spTree>
    <p:extLst>
      <p:ext uri="{BB962C8B-B14F-4D97-AF65-F5344CB8AC3E}">
        <p14:creationId xmlns:p14="http://schemas.microsoft.com/office/powerpoint/2010/main" val="196812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What are the </a:t>
            </a: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a:t>
            </a:r>
          </a:p>
        </p:txBody>
      </p:sp>
      <p:sp>
        <p:nvSpPr>
          <p:cNvPr id="5" name="TextBox 4">
            <a:extLst>
              <a:ext uri="{FF2B5EF4-FFF2-40B4-BE49-F238E27FC236}">
                <a16:creationId xmlns:a16="http://schemas.microsoft.com/office/drawing/2014/main" id="{23B193C1-B351-4CB2-AEE8-1A3314135D29}"/>
              </a:ext>
            </a:extLst>
          </p:cNvPr>
          <p:cNvSpPr txBox="1"/>
          <p:nvPr/>
        </p:nvSpPr>
        <p:spPr>
          <a:xfrm>
            <a:off x="933091" y="1457864"/>
            <a:ext cx="10325817" cy="4154984"/>
          </a:xfrm>
          <a:prstGeom prst="rect">
            <a:avLst/>
          </a:prstGeom>
          <a:noFill/>
        </p:spPr>
        <p:txBody>
          <a:bodyPr wrap="square" rtlCol="0">
            <a:spAutoFit/>
          </a:bodyPr>
          <a:lstStyle/>
          <a:p>
            <a:pPr algn="just">
              <a:buClr>
                <a:srgbClr val="0070C0"/>
              </a:buClr>
            </a:pPr>
            <a:r>
              <a:rPr lang="en-US" sz="2400" dirty="0">
                <a:solidFill>
                  <a:srgbClr val="FF00FF"/>
                </a:solidFill>
              </a:rPr>
              <a:t>SQL follows the following rules:</a:t>
            </a:r>
          </a:p>
          <a:p>
            <a:pPr algn="just">
              <a:buClr>
                <a:srgbClr val="0070C0"/>
              </a:buClr>
            </a:pPr>
            <a:endParaRPr lang="en-US" sz="2400" dirty="0">
              <a:solidFill>
                <a:srgbClr val="FF00FF"/>
              </a:solidFill>
            </a:endParaRPr>
          </a:p>
          <a:p>
            <a:pPr marL="285750" indent="-285750" algn="just">
              <a:buClr>
                <a:srgbClr val="0070C0"/>
              </a:buClr>
              <a:buFont typeface="Calibri" panose="020F0502020204030204" pitchFamily="34" charset="0"/>
              <a:buChar char="●"/>
            </a:pPr>
            <a:r>
              <a:rPr lang="en-US" sz="2400" dirty="0">
                <a:solidFill>
                  <a:schemeClr val="bg1"/>
                </a:solidFill>
              </a:rPr>
              <a:t>Structure query language </a:t>
            </a:r>
            <a:r>
              <a:rPr lang="en-US" sz="2400" dirty="0">
                <a:solidFill>
                  <a:srgbClr val="FFC000"/>
                </a:solidFill>
              </a:rPr>
              <a:t>is not case sensitive</a:t>
            </a:r>
            <a:r>
              <a:rPr lang="en-US" sz="2400" dirty="0">
                <a:solidFill>
                  <a:schemeClr val="bg1"/>
                </a:solidFill>
              </a:rPr>
              <a:t>. Generally, keywords of SQL are written in </a:t>
            </a:r>
            <a:r>
              <a:rPr lang="en-US" sz="2400" dirty="0">
                <a:solidFill>
                  <a:schemeClr val="accent6"/>
                </a:solidFill>
              </a:rPr>
              <a:t>uppercase</a:t>
            </a:r>
            <a:r>
              <a:rPr lang="en-US" sz="2400" dirty="0">
                <a:solidFill>
                  <a:schemeClr val="bg1"/>
                </a:solidFill>
              </a:rPr>
              <a:t>.</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Statements of SQL are </a:t>
            </a:r>
            <a:r>
              <a:rPr lang="en-US" sz="2400" dirty="0">
                <a:solidFill>
                  <a:srgbClr val="FFC000"/>
                </a:solidFill>
              </a:rPr>
              <a:t>dependent on text lines</a:t>
            </a:r>
            <a:r>
              <a:rPr lang="en-US" sz="2400" dirty="0">
                <a:solidFill>
                  <a:schemeClr val="bg1"/>
                </a:solidFill>
              </a:rPr>
              <a:t>. We can use a single SQL statement on one or multiple text line.</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Using the SQL statements, you can perform most of the actions in a database.</a:t>
            </a:r>
          </a:p>
          <a:p>
            <a:pPr marL="285750" indent="-285750" algn="just">
              <a:buClr>
                <a:srgbClr val="0070C0"/>
              </a:buClr>
              <a:buFont typeface="Calibri" panose="020F0502020204030204" pitchFamily="34" charset="0"/>
              <a:buChar char="●"/>
            </a:pPr>
            <a:endParaRPr lang="en-US" sz="2400" dirty="0">
              <a:solidFill>
                <a:schemeClr val="bg1"/>
              </a:solidFill>
            </a:endParaRPr>
          </a:p>
          <a:p>
            <a:pPr marL="285750" indent="-285750" algn="just">
              <a:buClr>
                <a:srgbClr val="0070C0"/>
              </a:buClr>
              <a:buFont typeface="Calibri" panose="020F0502020204030204" pitchFamily="34" charset="0"/>
              <a:buChar char="●"/>
            </a:pPr>
            <a:r>
              <a:rPr lang="en-US" sz="2400" dirty="0">
                <a:solidFill>
                  <a:schemeClr val="bg1"/>
                </a:solidFill>
              </a:rPr>
              <a:t>SQL depends on tuple </a:t>
            </a:r>
            <a:r>
              <a:rPr lang="en-US" sz="2400" dirty="0">
                <a:solidFill>
                  <a:srgbClr val="FF0000"/>
                </a:solidFill>
              </a:rPr>
              <a:t>relational calculus </a:t>
            </a:r>
            <a:r>
              <a:rPr lang="en-US" sz="2400" dirty="0">
                <a:solidFill>
                  <a:schemeClr val="bg1"/>
                </a:solidFill>
              </a:rPr>
              <a:t>and </a:t>
            </a:r>
            <a:r>
              <a:rPr lang="en-US" sz="2400" dirty="0">
                <a:solidFill>
                  <a:srgbClr val="FF00FF"/>
                </a:solidFill>
              </a:rPr>
              <a:t>relational algebra</a:t>
            </a:r>
            <a:r>
              <a:rPr lang="en-US" sz="2400" dirty="0">
                <a:solidFill>
                  <a:schemeClr val="bg1"/>
                </a:solidFill>
              </a:rPr>
              <a:t>.</a:t>
            </a:r>
          </a:p>
        </p:txBody>
      </p:sp>
    </p:spTree>
    <p:extLst>
      <p:ext uri="{BB962C8B-B14F-4D97-AF65-F5344CB8AC3E}">
        <p14:creationId xmlns:p14="http://schemas.microsoft.com/office/powerpoint/2010/main" val="4048687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Process of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23B193C1-B351-4CB2-AEE8-1A3314135D29}"/>
              </a:ext>
            </a:extLst>
          </p:cNvPr>
          <p:cNvSpPr txBox="1"/>
          <p:nvPr/>
        </p:nvSpPr>
        <p:spPr>
          <a:xfrm>
            <a:off x="933091" y="1457864"/>
            <a:ext cx="10325817" cy="341632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chemeClr val="bg1"/>
                </a:solidFill>
              </a:rPr>
              <a:t>When an SQL command is executing for any RDBMS, the system automatically figure out the best way to carry out the request and the SQL engine determines how to interpret the task.</a:t>
            </a:r>
          </a:p>
          <a:p>
            <a:pPr algn="just">
              <a:buClr>
                <a:srgbClr val="0070C0"/>
              </a:buCl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chemeClr val="bg1"/>
                </a:solidFill>
              </a:rPr>
              <a:t>In the process, various components are included. These components can be </a:t>
            </a:r>
            <a:r>
              <a:rPr lang="en-US" sz="2400" dirty="0">
                <a:solidFill>
                  <a:srgbClr val="FFC000"/>
                </a:solidFill>
              </a:rPr>
              <a:t>optimization Engine, Query engine, Query dispatcher, classic</a:t>
            </a:r>
            <a:r>
              <a:rPr lang="en-US" sz="2400" dirty="0">
                <a:solidFill>
                  <a:schemeClr val="bg1"/>
                </a:solidFill>
              </a:rPr>
              <a:t>, etc.</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chemeClr val="bg1"/>
                </a:solidFill>
              </a:rPr>
              <a:t>All the non-SQL queries are handled by the classic query engine, but SQL query engine won't handle logical files.</a:t>
            </a:r>
          </a:p>
        </p:txBody>
      </p:sp>
    </p:spTree>
    <p:extLst>
      <p:ext uri="{BB962C8B-B14F-4D97-AF65-F5344CB8AC3E}">
        <p14:creationId xmlns:p14="http://schemas.microsoft.com/office/powerpoint/2010/main" val="69705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Process of </a:t>
            </a:r>
            <a:r>
              <a:rPr lang="en-US" sz="5400" dirty="0">
                <a:solidFill>
                  <a:srgbClr val="FFFF00"/>
                </a:solidFill>
                <a:latin typeface="Roboto ExtraBold" panose="02000000000000000000" pitchFamily="2" charset="0"/>
                <a:ea typeface="Roboto ExtraBold" panose="02000000000000000000" pitchFamily="2" charset="0"/>
              </a:rPr>
              <a:t>SQL</a:t>
            </a:r>
          </a:p>
        </p:txBody>
      </p:sp>
      <p:pic>
        <p:nvPicPr>
          <p:cNvPr id="3" name="Picture 2">
            <a:extLst>
              <a:ext uri="{FF2B5EF4-FFF2-40B4-BE49-F238E27FC236}">
                <a16:creationId xmlns:a16="http://schemas.microsoft.com/office/drawing/2014/main" id="{A3EE102B-8302-4156-B020-D1C7EE8C8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1757" y="1453551"/>
            <a:ext cx="5428486" cy="4711887"/>
          </a:xfrm>
          <a:prstGeom prst="rect">
            <a:avLst/>
          </a:prstGeom>
        </p:spPr>
      </p:pic>
    </p:spTree>
    <p:extLst>
      <p:ext uri="{BB962C8B-B14F-4D97-AF65-F5344CB8AC3E}">
        <p14:creationId xmlns:p14="http://schemas.microsoft.com/office/powerpoint/2010/main" val="132076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Advantages of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8AD3891D-5D38-420A-8A05-D54A88597784}"/>
              </a:ext>
            </a:extLst>
          </p:cNvPr>
          <p:cNvSpPr txBox="1"/>
          <p:nvPr/>
        </p:nvSpPr>
        <p:spPr>
          <a:xfrm>
            <a:off x="933091" y="1453551"/>
            <a:ext cx="10325817" cy="378565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High-Speed Performance</a:t>
            </a:r>
            <a:endParaRPr lang="en-US" sz="2400" dirty="0">
              <a:solidFill>
                <a:schemeClr val="bg1"/>
              </a:solidFill>
            </a:endParaRPr>
          </a:p>
          <a:p>
            <a:pPr algn="just">
              <a:buClr>
                <a:srgbClr val="0070C0"/>
              </a:buClr>
            </a:pPr>
            <a:r>
              <a:rPr lang="en-US" sz="2400" dirty="0">
                <a:solidFill>
                  <a:schemeClr val="bg1"/>
                </a:solidFill>
              </a:rPr>
              <a:t>SQL is optimized to query and retrieve vast amounts of data quickly and efficiently. Unlike spreadsheets that slow down when handling thousands of rows, SQL databases can process millions of records in seconds.</a:t>
            </a:r>
          </a:p>
          <a:p>
            <a:pPr algn="just">
              <a:buClr>
                <a:srgbClr val="0070C0"/>
              </a:buCl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rgbClr val="00B0F0"/>
                </a:solidFill>
              </a:rPr>
              <a:t>No Complex Coding Required</a:t>
            </a:r>
            <a:endParaRPr lang="en-US" sz="2400" dirty="0">
              <a:solidFill>
                <a:schemeClr val="bg1"/>
              </a:solidFill>
            </a:endParaRPr>
          </a:p>
          <a:p>
            <a:pPr algn="just">
              <a:buClr>
                <a:srgbClr val="0070C0"/>
              </a:buClr>
            </a:pPr>
            <a:r>
              <a:rPr lang="en-US" sz="2400" dirty="0">
                <a:solidFill>
                  <a:schemeClr val="bg1"/>
                </a:solidFill>
              </a:rPr>
              <a:t>SQL uses a declarative language structure based on simple, English-like keywords (such as SELECT, INSERT, UPDATE, and DELETE). Users only need to state what data they want to see, rather than writing complex logic on how to find it. This makes it accessible to both developers and non-technical business analysts.</a:t>
            </a:r>
          </a:p>
        </p:txBody>
      </p:sp>
    </p:spTree>
    <p:extLst>
      <p:ext uri="{BB962C8B-B14F-4D97-AF65-F5344CB8AC3E}">
        <p14:creationId xmlns:p14="http://schemas.microsoft.com/office/powerpoint/2010/main" val="223754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Advantages of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8AD3891D-5D38-420A-8A05-D54A88597784}"/>
              </a:ext>
            </a:extLst>
          </p:cNvPr>
          <p:cNvSpPr txBox="1"/>
          <p:nvPr/>
        </p:nvSpPr>
        <p:spPr>
          <a:xfrm>
            <a:off x="933091" y="1466491"/>
            <a:ext cx="10325817" cy="415498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Highly Standardized and Portable</a:t>
            </a:r>
          </a:p>
          <a:p>
            <a:pPr algn="just">
              <a:buClr>
                <a:srgbClr val="0070C0"/>
              </a:buClr>
            </a:pPr>
            <a:r>
              <a:rPr lang="en-US" sz="2400" dirty="0">
                <a:solidFill>
                  <a:schemeClr val="bg1"/>
                </a:solidFill>
              </a:rPr>
              <a:t>SQL is an ANSI and ISO standardized language. This means that the core syntax remains virtually identical whether you are working on MySQL, PostgreSQL, Oracle, or Microsoft SQL Server. Additionally, it is highly portable across different devices, platforms, and servers.</a:t>
            </a:r>
          </a:p>
          <a:p>
            <a:pPr algn="just">
              <a:buClr>
                <a:srgbClr val="0070C0"/>
              </a:buCl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rgbClr val="00B0F0"/>
                </a:solidFill>
              </a:rPr>
              <a:t>Data Integrity and Robust Security</a:t>
            </a:r>
            <a:endParaRPr lang="en-US" sz="2400" dirty="0">
              <a:solidFill>
                <a:schemeClr val="bg1"/>
              </a:solidFill>
            </a:endParaRPr>
          </a:p>
          <a:p>
            <a:pPr algn="just">
              <a:buClr>
                <a:srgbClr val="0070C0"/>
              </a:buClr>
            </a:pPr>
            <a:r>
              <a:rPr lang="en-US" sz="2400" dirty="0">
                <a:solidFill>
                  <a:schemeClr val="bg1"/>
                </a:solidFill>
              </a:rPr>
              <a:t>SQL databases utilize strict rules and constraints (like primary keys and foreign keys) to ensure data remains accurate, reliable, and organized. They also offer granular security features, allowing database administrators to control exactly who can view or modify specific tables using Role-Based Access Control (RBAC).</a:t>
            </a:r>
          </a:p>
        </p:txBody>
      </p:sp>
    </p:spTree>
    <p:extLst>
      <p:ext uri="{BB962C8B-B14F-4D97-AF65-F5344CB8AC3E}">
        <p14:creationId xmlns:p14="http://schemas.microsoft.com/office/powerpoint/2010/main" val="749293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Advantages of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8AD3891D-5D38-420A-8A05-D54A88597784}"/>
              </a:ext>
            </a:extLst>
          </p:cNvPr>
          <p:cNvSpPr txBox="1"/>
          <p:nvPr/>
        </p:nvSpPr>
        <p:spPr>
          <a:xfrm>
            <a:off x="933091" y="1453551"/>
            <a:ext cx="10325817" cy="193899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Multi-User and Transaction Control</a:t>
            </a:r>
            <a:endParaRPr lang="en-US" sz="2400" dirty="0">
              <a:solidFill>
                <a:schemeClr val="bg1"/>
              </a:solidFill>
            </a:endParaRPr>
          </a:p>
          <a:p>
            <a:pPr algn="just">
              <a:buClr>
                <a:srgbClr val="0070C0"/>
              </a:buClr>
            </a:pPr>
            <a:r>
              <a:rPr lang="en-US" sz="2400" dirty="0">
                <a:solidFill>
                  <a:schemeClr val="bg1"/>
                </a:solidFill>
              </a:rPr>
              <a:t>Through </a:t>
            </a:r>
            <a:r>
              <a:rPr lang="en-US" sz="2400" dirty="0">
                <a:solidFill>
                  <a:srgbClr val="FF00FF"/>
                </a:solidFill>
              </a:rPr>
              <a:t>ACID</a:t>
            </a:r>
            <a:r>
              <a:rPr lang="en-US" sz="2400" dirty="0">
                <a:solidFill>
                  <a:srgbClr val="FFC000"/>
                </a:solidFill>
              </a:rPr>
              <a:t> </a:t>
            </a:r>
            <a:r>
              <a:rPr lang="en-US" sz="2400" dirty="0">
                <a:solidFill>
                  <a:schemeClr val="bg1"/>
                </a:solidFill>
              </a:rPr>
              <a:t>(Atomicity, Consistency, Isolation, and Durability) compliance, SQL guarantees that database transactions are processed reliably. If a system crashes mid-transaction, SQL can ROLLBACK the changes to prevent data corruption, ensuring partial updates never ruin your datasets.</a:t>
            </a:r>
          </a:p>
        </p:txBody>
      </p:sp>
    </p:spTree>
    <p:extLst>
      <p:ext uri="{BB962C8B-B14F-4D97-AF65-F5344CB8AC3E}">
        <p14:creationId xmlns:p14="http://schemas.microsoft.com/office/powerpoint/2010/main" val="2750894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00B0F0"/>
                </a:solidFill>
                <a:latin typeface="Roboto ExtraBold" panose="02000000000000000000" pitchFamily="2" charset="0"/>
                <a:ea typeface="Roboto ExtraBold" panose="02000000000000000000" pitchFamily="2" charset="0"/>
              </a:rPr>
              <a:t>Datatypes in </a:t>
            </a:r>
            <a:r>
              <a:rPr lang="en-US" sz="5400" dirty="0">
                <a:solidFill>
                  <a:srgbClr val="FFFF00"/>
                </a:solidFill>
                <a:latin typeface="Roboto ExtraBold" panose="02000000000000000000" pitchFamily="2" charset="0"/>
                <a:ea typeface="Roboto ExtraBold" panose="02000000000000000000" pitchFamily="2" charset="0"/>
              </a:rPr>
              <a:t>SQL</a:t>
            </a:r>
          </a:p>
        </p:txBody>
      </p:sp>
      <p:sp>
        <p:nvSpPr>
          <p:cNvPr id="5" name="TextBox 4">
            <a:extLst>
              <a:ext uri="{FF2B5EF4-FFF2-40B4-BE49-F238E27FC236}">
                <a16:creationId xmlns:a16="http://schemas.microsoft.com/office/drawing/2014/main" id="{8AD3891D-5D38-420A-8A05-D54A88597784}"/>
              </a:ext>
            </a:extLst>
          </p:cNvPr>
          <p:cNvSpPr txBox="1"/>
          <p:nvPr/>
        </p:nvSpPr>
        <p:spPr>
          <a:xfrm>
            <a:off x="933091" y="1453551"/>
            <a:ext cx="10325817" cy="830997"/>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chemeClr val="bg1"/>
                </a:solidFill>
              </a:rPr>
              <a:t>SQL Datatype is used to define the values that a column can contain.</a:t>
            </a:r>
          </a:p>
          <a:p>
            <a:pPr marL="342900" indent="-342900" algn="just">
              <a:buClr>
                <a:srgbClr val="0070C0"/>
              </a:buClr>
              <a:buFont typeface="Calibri" panose="020F0502020204030204" pitchFamily="34" charset="0"/>
              <a:buChar char="●"/>
            </a:pPr>
            <a:r>
              <a:rPr lang="en-US" sz="2400" dirty="0">
                <a:solidFill>
                  <a:schemeClr val="bg1"/>
                </a:solidFill>
              </a:rPr>
              <a:t>Every column is required to have a name and data type in the database table.</a:t>
            </a:r>
          </a:p>
        </p:txBody>
      </p:sp>
      <p:pic>
        <p:nvPicPr>
          <p:cNvPr id="3" name="Picture 2">
            <a:extLst>
              <a:ext uri="{FF2B5EF4-FFF2-40B4-BE49-F238E27FC236}">
                <a16:creationId xmlns:a16="http://schemas.microsoft.com/office/drawing/2014/main" id="{C69D4195-F7E2-453B-A1AC-ED4212E2132D}"/>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1996634" y="2376881"/>
            <a:ext cx="8198731" cy="4026662"/>
          </a:xfrm>
          <a:prstGeom prst="rect">
            <a:avLst/>
          </a:prstGeom>
          <a:ln>
            <a:noFill/>
          </a:ln>
          <a:effectLst>
            <a:softEdge rad="112500"/>
          </a:effectLst>
        </p:spPr>
      </p:pic>
    </p:spTree>
    <p:extLst>
      <p:ext uri="{BB962C8B-B14F-4D97-AF65-F5344CB8AC3E}">
        <p14:creationId xmlns:p14="http://schemas.microsoft.com/office/powerpoint/2010/main" val="2865931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8AD3891D-5D38-420A-8A05-D54A88597784}"/>
              </a:ext>
            </a:extLst>
          </p:cNvPr>
          <p:cNvSpPr txBox="1"/>
          <p:nvPr/>
        </p:nvSpPr>
        <p:spPr>
          <a:xfrm>
            <a:off x="933091" y="1453551"/>
            <a:ext cx="10325817" cy="2677656"/>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chemeClr val="bg1"/>
                </a:solidFill>
              </a:rPr>
              <a:t>SQL commands are instructions. It is used to communicate with the database. It is also used to perform specific tasks, functions, and queries of data.</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chemeClr val="bg1"/>
                </a:solidFill>
              </a:rPr>
              <a:t>SQL can perform various tasks like create a table, add data to tables, drop the table, modify the table, set permission for users.</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chemeClr val="bg1"/>
                </a:solidFill>
              </a:rPr>
              <a:t>There are </a:t>
            </a:r>
            <a:r>
              <a:rPr lang="en-US" sz="2400" dirty="0">
                <a:solidFill>
                  <a:srgbClr val="FF00FF"/>
                </a:solidFill>
              </a:rPr>
              <a:t>five types </a:t>
            </a:r>
            <a:r>
              <a:rPr lang="en-US" sz="2400" dirty="0">
                <a:solidFill>
                  <a:schemeClr val="bg1"/>
                </a:solidFill>
              </a:rPr>
              <a:t>of SQL commands: </a:t>
            </a:r>
            <a:r>
              <a:rPr lang="en-US" sz="2400" dirty="0">
                <a:solidFill>
                  <a:srgbClr val="FFC000"/>
                </a:solidFill>
              </a:rPr>
              <a:t>DDL, DML, DCL, TCL,</a:t>
            </a:r>
            <a:r>
              <a:rPr lang="en-US" sz="2400" dirty="0">
                <a:solidFill>
                  <a:schemeClr val="bg1"/>
                </a:solidFill>
              </a:rPr>
              <a:t> and </a:t>
            </a:r>
            <a:r>
              <a:rPr lang="en-US" sz="2400" dirty="0">
                <a:solidFill>
                  <a:srgbClr val="FFC000"/>
                </a:solidFill>
              </a:rPr>
              <a:t>DQL</a:t>
            </a:r>
          </a:p>
        </p:txBody>
      </p:sp>
    </p:spTree>
    <p:extLst>
      <p:ext uri="{BB962C8B-B14F-4D97-AF65-F5344CB8AC3E}">
        <p14:creationId xmlns:p14="http://schemas.microsoft.com/office/powerpoint/2010/main" val="785129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pic>
        <p:nvPicPr>
          <p:cNvPr id="7" name="Picture 6">
            <a:extLst>
              <a:ext uri="{FF2B5EF4-FFF2-40B4-BE49-F238E27FC236}">
                <a16:creationId xmlns:a16="http://schemas.microsoft.com/office/drawing/2014/main" id="{88FBFD79-8B12-432E-9B2C-58CBFD7D7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0721" y="1453551"/>
            <a:ext cx="5490558" cy="5133491"/>
          </a:xfrm>
          <a:prstGeom prst="rect">
            <a:avLst/>
          </a:prstGeom>
          <a:ln>
            <a:noFill/>
          </a:ln>
          <a:effectLst>
            <a:softEdge rad="112500"/>
          </a:effectLst>
        </p:spPr>
      </p:pic>
    </p:spTree>
    <p:extLst>
      <p:ext uri="{BB962C8B-B14F-4D97-AF65-F5344CB8AC3E}">
        <p14:creationId xmlns:p14="http://schemas.microsoft.com/office/powerpoint/2010/main" val="1440718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9C4E5BDA-0E0B-44EB-AA63-F31F9C3F2EF7}"/>
              </a:ext>
            </a:extLst>
          </p:cNvPr>
          <p:cNvSpPr txBox="1"/>
          <p:nvPr/>
        </p:nvSpPr>
        <p:spPr>
          <a:xfrm>
            <a:off x="933091" y="1453551"/>
            <a:ext cx="10325817" cy="4524315"/>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Data Definition Language (DDL)</a:t>
            </a:r>
          </a:p>
          <a:p>
            <a:pPr algn="just">
              <a:buClr>
                <a:srgbClr val="0070C0"/>
              </a:buClr>
            </a:pPr>
            <a:r>
              <a:rPr lang="en-US" sz="2400" dirty="0">
                <a:solidFill>
                  <a:schemeClr val="bg1"/>
                </a:solidFill>
              </a:rPr>
              <a:t>DDL changes the structure of the table like creating a table, deleting a table, altering a table, etc. All the command of DDL are auto-committed, that means it permanently save all the changes in the database.</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Here are some commands that come under DDL:</a:t>
            </a:r>
          </a:p>
          <a:p>
            <a:pPr marL="800100" lvl="1" indent="-342900" algn="just">
              <a:buClr>
                <a:srgbClr val="0070C0"/>
              </a:buClr>
              <a:buFont typeface="Wingdings" panose="05000000000000000000" pitchFamily="2" charset="2"/>
              <a:buChar char="Ø"/>
            </a:pPr>
            <a:r>
              <a:rPr lang="en-US" sz="2400" dirty="0">
                <a:solidFill>
                  <a:srgbClr val="FFC000"/>
                </a:solidFill>
              </a:rPr>
              <a:t>CREATE</a:t>
            </a:r>
          </a:p>
          <a:p>
            <a:pPr marL="800100" lvl="1" indent="-342900" algn="just">
              <a:buClr>
                <a:srgbClr val="0070C0"/>
              </a:buClr>
              <a:buFont typeface="Wingdings" panose="05000000000000000000" pitchFamily="2" charset="2"/>
              <a:buChar char="Ø"/>
            </a:pPr>
            <a:r>
              <a:rPr lang="en-US" sz="2400" dirty="0">
                <a:solidFill>
                  <a:srgbClr val="FFC000"/>
                </a:solidFill>
              </a:rPr>
              <a:t>ALTER</a:t>
            </a:r>
          </a:p>
          <a:p>
            <a:pPr marL="800100" lvl="1" indent="-342900" algn="just">
              <a:buClr>
                <a:srgbClr val="0070C0"/>
              </a:buClr>
              <a:buFont typeface="Wingdings" panose="05000000000000000000" pitchFamily="2" charset="2"/>
              <a:buChar char="Ø"/>
            </a:pPr>
            <a:r>
              <a:rPr lang="en-US" sz="2400" dirty="0">
                <a:solidFill>
                  <a:srgbClr val="FFC000"/>
                </a:solidFill>
              </a:rPr>
              <a:t>DROP</a:t>
            </a:r>
          </a:p>
          <a:p>
            <a:pPr marL="800100" lvl="1" indent="-342900" algn="just">
              <a:buClr>
                <a:srgbClr val="0070C0"/>
              </a:buClr>
              <a:buFont typeface="Wingdings" panose="05000000000000000000" pitchFamily="2" charset="2"/>
              <a:buChar char="Ø"/>
            </a:pPr>
            <a:r>
              <a:rPr lang="en-US" sz="2400" dirty="0">
                <a:solidFill>
                  <a:srgbClr val="FFC000"/>
                </a:solidFill>
              </a:rPr>
              <a:t>ALTER</a:t>
            </a:r>
          </a:p>
          <a:p>
            <a:pPr marL="800100" lvl="1" indent="-342900" algn="just">
              <a:buClr>
                <a:srgbClr val="0070C0"/>
              </a:buClr>
              <a:buFont typeface="Wingdings" panose="05000000000000000000" pitchFamily="2" charset="2"/>
              <a:buChar char="Ø"/>
            </a:pPr>
            <a:r>
              <a:rPr lang="en-US" sz="2400" dirty="0">
                <a:solidFill>
                  <a:srgbClr val="FFC000"/>
                </a:solidFill>
              </a:rPr>
              <a:t>DROP</a:t>
            </a:r>
          </a:p>
          <a:p>
            <a:pPr marL="800100" lvl="1" indent="-342900" algn="just">
              <a:buClr>
                <a:srgbClr val="0070C0"/>
              </a:buClr>
              <a:buFont typeface="Wingdings" panose="05000000000000000000" pitchFamily="2" charset="2"/>
              <a:buChar char="Ø"/>
            </a:pPr>
            <a:r>
              <a:rPr lang="en-US" sz="2400" dirty="0">
                <a:solidFill>
                  <a:srgbClr val="FFC000"/>
                </a:solidFill>
              </a:rPr>
              <a:t>TRUNCATE</a:t>
            </a:r>
          </a:p>
        </p:txBody>
      </p:sp>
    </p:spTree>
    <p:extLst>
      <p:ext uri="{BB962C8B-B14F-4D97-AF65-F5344CB8AC3E}">
        <p14:creationId xmlns:p14="http://schemas.microsoft.com/office/powerpoint/2010/main" val="3505350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763148" y="530221"/>
            <a:ext cx="6665703"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DDL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230832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CREATE</a:t>
            </a:r>
          </a:p>
          <a:p>
            <a:pPr algn="just">
              <a:buClr>
                <a:srgbClr val="0070C0"/>
              </a:buClr>
            </a:pPr>
            <a:r>
              <a:rPr lang="en-US" sz="2400" dirty="0">
                <a:solidFill>
                  <a:schemeClr val="bg1"/>
                </a:solidFill>
              </a:rPr>
              <a:t>This command builds a brand-new database object, such as a table, view, index, or schema. Sets up the name of the object, defines its columns, assigns data types, and enforces integrity rules like PRIMARY KEY or NOT NULL.</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p:txBody>
      </p:sp>
      <p:pic>
        <p:nvPicPr>
          <p:cNvPr id="11" name="Picture 10">
            <a:extLst>
              <a:ext uri="{FF2B5EF4-FFF2-40B4-BE49-F238E27FC236}">
                <a16:creationId xmlns:a16="http://schemas.microsoft.com/office/drawing/2014/main" id="{D5452F25-F202-415F-A67B-231BA79AD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0873" y="3429000"/>
            <a:ext cx="5150252" cy="1595974"/>
          </a:xfrm>
          <a:prstGeom prst="rect">
            <a:avLst/>
          </a:prstGeom>
        </p:spPr>
      </p:pic>
    </p:spTree>
    <p:extLst>
      <p:ext uri="{BB962C8B-B14F-4D97-AF65-F5344CB8AC3E}">
        <p14:creationId xmlns:p14="http://schemas.microsoft.com/office/powerpoint/2010/main" val="3143805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763148" y="530221"/>
            <a:ext cx="6665703"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DDL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93899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ALTER</a:t>
            </a:r>
          </a:p>
          <a:p>
            <a:pPr algn="just">
              <a:buClr>
                <a:srgbClr val="0070C0"/>
              </a:buClr>
            </a:pPr>
            <a:r>
              <a:rPr lang="en-US" sz="2400" dirty="0">
                <a:solidFill>
                  <a:schemeClr val="bg1"/>
                </a:solidFill>
              </a:rPr>
              <a:t>The ALTER command modifies the structure of an existing database object without deleting it entirely. Used to add new columns, drop existing columns, change column data types, or add constraints to an already established table.</a:t>
            </a:r>
          </a:p>
          <a:p>
            <a:pPr algn="just">
              <a:buClr>
                <a:srgbClr val="0070C0"/>
              </a:buClr>
            </a:pPr>
            <a:endParaRPr lang="en-US" sz="2400" dirty="0">
              <a:solidFill>
                <a:schemeClr val="bg1"/>
              </a:solidFill>
            </a:endParaRPr>
          </a:p>
        </p:txBody>
      </p:sp>
      <p:pic>
        <p:nvPicPr>
          <p:cNvPr id="3" name="Picture 2">
            <a:extLst>
              <a:ext uri="{FF2B5EF4-FFF2-40B4-BE49-F238E27FC236}">
                <a16:creationId xmlns:a16="http://schemas.microsoft.com/office/drawing/2014/main" id="{2B3B3266-5105-4C6A-A741-DA41F0C44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56" y="3392543"/>
            <a:ext cx="6444285" cy="1595974"/>
          </a:xfrm>
          <a:prstGeom prst="rect">
            <a:avLst/>
          </a:prstGeom>
        </p:spPr>
      </p:pic>
    </p:spTree>
    <p:extLst>
      <p:ext uri="{BB962C8B-B14F-4D97-AF65-F5344CB8AC3E}">
        <p14:creationId xmlns:p14="http://schemas.microsoft.com/office/powerpoint/2010/main" val="347787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763148" y="530221"/>
            <a:ext cx="6665703"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DDL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DROP</a:t>
            </a:r>
          </a:p>
          <a:p>
            <a:pPr algn="just">
              <a:buClr>
                <a:srgbClr val="0070C0"/>
              </a:buClr>
            </a:pPr>
            <a:r>
              <a:rPr lang="en-US" sz="2400" dirty="0">
                <a:solidFill>
                  <a:schemeClr val="bg1"/>
                </a:solidFill>
              </a:rPr>
              <a:t>This command completely obliterates a database object from the system. Deletes the targeted object entirely—removing its structure, all of its stored data, and any associated permissions or triggers from the database.</a:t>
            </a:r>
          </a:p>
        </p:txBody>
      </p:sp>
      <p:pic>
        <p:nvPicPr>
          <p:cNvPr id="5" name="Picture 4">
            <a:extLst>
              <a:ext uri="{FF2B5EF4-FFF2-40B4-BE49-F238E27FC236}">
                <a16:creationId xmlns:a16="http://schemas.microsoft.com/office/drawing/2014/main" id="{5940EAEE-CBA4-43EC-861D-836F0DD33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5323" y="3429000"/>
            <a:ext cx="3321351" cy="310568"/>
          </a:xfrm>
          <a:prstGeom prst="rect">
            <a:avLst/>
          </a:prstGeom>
        </p:spPr>
      </p:pic>
    </p:spTree>
    <p:extLst>
      <p:ext uri="{BB962C8B-B14F-4D97-AF65-F5344CB8AC3E}">
        <p14:creationId xmlns:p14="http://schemas.microsoft.com/office/powerpoint/2010/main" val="3376163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763148" y="530221"/>
            <a:ext cx="6665703"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DDL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230832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TRUNCATE</a:t>
            </a:r>
          </a:p>
          <a:p>
            <a:pPr algn="just">
              <a:buClr>
                <a:srgbClr val="0070C0"/>
              </a:buClr>
            </a:pPr>
            <a:r>
              <a:rPr lang="en-US" sz="2400" dirty="0">
                <a:solidFill>
                  <a:schemeClr val="bg1"/>
                </a:solidFill>
              </a:rPr>
              <a:t>TRUNCATE clears out the contents of a table while leaving its structural framework intact. Fast-deletes all rows from a table. Because it skips logging individual row deletions, it is significantly faster than using a DML DELETE command without a WHERE clause. The table will remain empty and ready for new data.</a:t>
            </a:r>
          </a:p>
        </p:txBody>
      </p:sp>
      <p:pic>
        <p:nvPicPr>
          <p:cNvPr id="3" name="Picture 2">
            <a:extLst>
              <a:ext uri="{FF2B5EF4-FFF2-40B4-BE49-F238E27FC236}">
                <a16:creationId xmlns:a16="http://schemas.microsoft.com/office/drawing/2014/main" id="{66F44F2A-DA50-48DD-87EE-FB14AAAAF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7501" y="3886958"/>
            <a:ext cx="3976995" cy="310568"/>
          </a:xfrm>
          <a:prstGeom prst="rect">
            <a:avLst/>
          </a:prstGeom>
        </p:spPr>
      </p:pic>
    </p:spTree>
    <p:extLst>
      <p:ext uri="{BB962C8B-B14F-4D97-AF65-F5344CB8AC3E}">
        <p14:creationId xmlns:p14="http://schemas.microsoft.com/office/powerpoint/2010/main" val="4130093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763148" y="530221"/>
            <a:ext cx="6665703"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DDL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RENAME</a:t>
            </a:r>
          </a:p>
          <a:p>
            <a:pPr algn="just">
              <a:buClr>
                <a:srgbClr val="0070C0"/>
              </a:buClr>
            </a:pPr>
            <a:r>
              <a:rPr lang="en-US" sz="2400" dirty="0">
                <a:solidFill>
                  <a:schemeClr val="bg1"/>
                </a:solidFill>
              </a:rPr>
              <a:t>This command changes the name of an existing database object. Allows you to change a table or column name to reflect updates in your database design without altering the underlying data.</a:t>
            </a:r>
          </a:p>
        </p:txBody>
      </p:sp>
      <p:pic>
        <p:nvPicPr>
          <p:cNvPr id="5" name="Picture 4">
            <a:extLst>
              <a:ext uri="{FF2B5EF4-FFF2-40B4-BE49-F238E27FC236}">
                <a16:creationId xmlns:a16="http://schemas.microsoft.com/office/drawing/2014/main" id="{42E96427-04FA-43AD-BDB9-BC1CEDDBF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813" y="3429000"/>
            <a:ext cx="5702372" cy="327822"/>
          </a:xfrm>
          <a:prstGeom prst="rect">
            <a:avLst/>
          </a:prstGeom>
        </p:spPr>
      </p:pic>
    </p:spTree>
    <p:extLst>
      <p:ext uri="{BB962C8B-B14F-4D97-AF65-F5344CB8AC3E}">
        <p14:creationId xmlns:p14="http://schemas.microsoft.com/office/powerpoint/2010/main" val="1793032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9C4E5BDA-0E0B-44EB-AA63-F31F9C3F2EF7}"/>
              </a:ext>
            </a:extLst>
          </p:cNvPr>
          <p:cNvSpPr txBox="1"/>
          <p:nvPr/>
        </p:nvSpPr>
        <p:spPr>
          <a:xfrm>
            <a:off x="933091" y="1453551"/>
            <a:ext cx="10325817" cy="415498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Data Manipulation Language (DML)</a:t>
            </a:r>
          </a:p>
          <a:p>
            <a:pPr algn="just">
              <a:buClr>
                <a:srgbClr val="0070C0"/>
              </a:buClr>
            </a:pPr>
            <a:r>
              <a:rPr lang="en-US" sz="2400" dirty="0">
                <a:solidFill>
                  <a:schemeClr val="bg1"/>
                </a:solidFill>
              </a:rPr>
              <a:t>DML commands are used to </a:t>
            </a:r>
            <a:r>
              <a:rPr lang="en-US" sz="2400" dirty="0">
                <a:solidFill>
                  <a:srgbClr val="FF00FF"/>
                </a:solidFill>
              </a:rPr>
              <a:t>modify the database</a:t>
            </a:r>
            <a:r>
              <a:rPr lang="en-US" sz="2400" dirty="0">
                <a:solidFill>
                  <a:schemeClr val="bg1"/>
                </a:solidFill>
              </a:rPr>
              <a:t>. It is responsible for all form of </a:t>
            </a:r>
            <a:r>
              <a:rPr lang="en-US" sz="2400" dirty="0">
                <a:solidFill>
                  <a:srgbClr val="FF00FF"/>
                </a:solidFill>
              </a:rPr>
              <a:t>CHANGES</a:t>
            </a:r>
            <a:r>
              <a:rPr lang="en-US" sz="2400" dirty="0">
                <a:solidFill>
                  <a:schemeClr val="bg1"/>
                </a:solidFill>
              </a:rPr>
              <a:t> in the database. </a:t>
            </a:r>
          </a:p>
          <a:p>
            <a:pPr algn="just">
              <a:buClr>
                <a:srgbClr val="0070C0"/>
              </a:buClr>
            </a:pPr>
            <a:r>
              <a:rPr lang="en-US" sz="2400" dirty="0">
                <a:solidFill>
                  <a:schemeClr val="bg1"/>
                </a:solidFill>
              </a:rPr>
              <a:t>The command of DML is not auto-committed that means it can't permanently save all the changes in the database. They can be rollback.</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Here are some commands that come under DML:</a:t>
            </a:r>
          </a:p>
          <a:p>
            <a:pPr marL="800100" lvl="1" indent="-342900" algn="just">
              <a:buClr>
                <a:srgbClr val="0070C0"/>
              </a:buClr>
              <a:buFont typeface="Wingdings" panose="05000000000000000000" pitchFamily="2" charset="2"/>
              <a:buChar char="Ø"/>
            </a:pPr>
            <a:r>
              <a:rPr lang="en-US" sz="2400" dirty="0">
                <a:solidFill>
                  <a:srgbClr val="FFC000"/>
                </a:solidFill>
              </a:rPr>
              <a:t>INSERT</a:t>
            </a:r>
          </a:p>
          <a:p>
            <a:pPr marL="800100" lvl="1" indent="-342900" algn="just">
              <a:buClr>
                <a:srgbClr val="0070C0"/>
              </a:buClr>
              <a:buFont typeface="Wingdings" panose="05000000000000000000" pitchFamily="2" charset="2"/>
              <a:buChar char="Ø"/>
            </a:pPr>
            <a:r>
              <a:rPr lang="en-US" sz="2400" dirty="0">
                <a:solidFill>
                  <a:srgbClr val="FFC000"/>
                </a:solidFill>
              </a:rPr>
              <a:t>UPDATE</a:t>
            </a:r>
          </a:p>
          <a:p>
            <a:pPr marL="800100" lvl="1" indent="-342900" algn="just">
              <a:buClr>
                <a:srgbClr val="0070C0"/>
              </a:buClr>
              <a:buFont typeface="Wingdings" panose="05000000000000000000" pitchFamily="2" charset="2"/>
              <a:buChar char="Ø"/>
            </a:pPr>
            <a:r>
              <a:rPr lang="en-US" sz="2400" dirty="0">
                <a:solidFill>
                  <a:srgbClr val="FFC000"/>
                </a:solidFill>
              </a:rPr>
              <a:t>DELETE</a:t>
            </a:r>
          </a:p>
        </p:txBody>
      </p:sp>
    </p:spTree>
    <p:extLst>
      <p:ext uri="{BB962C8B-B14F-4D97-AF65-F5344CB8AC3E}">
        <p14:creationId xmlns:p14="http://schemas.microsoft.com/office/powerpoint/2010/main" val="1814468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DML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200329"/>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INSERT</a:t>
            </a:r>
          </a:p>
          <a:p>
            <a:pPr algn="just">
              <a:buClr>
                <a:srgbClr val="0070C0"/>
              </a:buClr>
            </a:pPr>
            <a:r>
              <a:rPr lang="en-US" sz="2400" dirty="0">
                <a:solidFill>
                  <a:schemeClr val="bg1"/>
                </a:solidFill>
              </a:rPr>
              <a:t>This command adds new rows of data into an existing table. Inserts literal values or data fetched from another table into specified columns.</a:t>
            </a:r>
          </a:p>
        </p:txBody>
      </p:sp>
      <p:pic>
        <p:nvPicPr>
          <p:cNvPr id="3" name="Picture 2">
            <a:extLst>
              <a:ext uri="{FF2B5EF4-FFF2-40B4-BE49-F238E27FC236}">
                <a16:creationId xmlns:a16="http://schemas.microsoft.com/office/drawing/2014/main" id="{E9090C21-0B8F-4625-8EAD-0E97BCAD4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123" y="3429000"/>
            <a:ext cx="7427750" cy="664270"/>
          </a:xfrm>
          <a:prstGeom prst="rect">
            <a:avLst/>
          </a:prstGeom>
        </p:spPr>
      </p:pic>
    </p:spTree>
    <p:extLst>
      <p:ext uri="{BB962C8B-B14F-4D97-AF65-F5344CB8AC3E}">
        <p14:creationId xmlns:p14="http://schemas.microsoft.com/office/powerpoint/2010/main" val="784227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DML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UPDATE</a:t>
            </a:r>
          </a:p>
          <a:p>
            <a:pPr algn="just">
              <a:buClr>
                <a:srgbClr val="0070C0"/>
              </a:buClr>
            </a:pPr>
            <a:r>
              <a:rPr lang="en-US" sz="2400" dirty="0">
                <a:solidFill>
                  <a:schemeClr val="bg1"/>
                </a:solidFill>
              </a:rPr>
              <a:t>The UPDATE command modifies existing records within a table. Changes the value of one or more columns for specific rows. It is highly critical to use a </a:t>
            </a:r>
            <a:r>
              <a:rPr lang="en-US" sz="2400" dirty="0">
                <a:solidFill>
                  <a:srgbClr val="FFC000"/>
                </a:solidFill>
              </a:rPr>
              <a:t>WHERE</a:t>
            </a:r>
            <a:r>
              <a:rPr lang="en-US" sz="2400" dirty="0">
                <a:solidFill>
                  <a:schemeClr val="bg1"/>
                </a:solidFill>
              </a:rPr>
              <a:t> clause here; omitting it will update every single row in the table.</a:t>
            </a:r>
          </a:p>
        </p:txBody>
      </p:sp>
      <p:pic>
        <p:nvPicPr>
          <p:cNvPr id="5" name="Picture 4">
            <a:extLst>
              <a:ext uri="{FF2B5EF4-FFF2-40B4-BE49-F238E27FC236}">
                <a16:creationId xmlns:a16="http://schemas.microsoft.com/office/drawing/2014/main" id="{562FDDC6-45D1-4A86-85E3-9F2E9764A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976" y="3429000"/>
            <a:ext cx="5340043" cy="966211"/>
          </a:xfrm>
          <a:prstGeom prst="rect">
            <a:avLst/>
          </a:prstGeom>
        </p:spPr>
      </p:pic>
    </p:spTree>
    <p:extLst>
      <p:ext uri="{BB962C8B-B14F-4D97-AF65-F5344CB8AC3E}">
        <p14:creationId xmlns:p14="http://schemas.microsoft.com/office/powerpoint/2010/main" val="2250580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DML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DELETE</a:t>
            </a:r>
          </a:p>
          <a:p>
            <a:pPr algn="just">
              <a:buClr>
                <a:srgbClr val="0070C0"/>
              </a:buClr>
            </a:pPr>
            <a:r>
              <a:rPr lang="en-US" sz="2400" dirty="0">
                <a:solidFill>
                  <a:schemeClr val="bg1"/>
                </a:solidFill>
              </a:rPr>
              <a:t>This command removes specific records from a table. Deletes rows that match a certain condition. Just like UPDATE, you must include a </a:t>
            </a:r>
            <a:r>
              <a:rPr lang="en-US" sz="2400" dirty="0">
                <a:solidFill>
                  <a:srgbClr val="FFC000"/>
                </a:solidFill>
              </a:rPr>
              <a:t>WHERE</a:t>
            </a:r>
            <a:r>
              <a:rPr lang="en-US" sz="2400" dirty="0">
                <a:solidFill>
                  <a:schemeClr val="bg1"/>
                </a:solidFill>
              </a:rPr>
              <a:t> clause to avoid accidentally erasing all data in the table.</a:t>
            </a:r>
          </a:p>
        </p:txBody>
      </p:sp>
      <p:pic>
        <p:nvPicPr>
          <p:cNvPr id="3" name="Picture 2">
            <a:extLst>
              <a:ext uri="{FF2B5EF4-FFF2-40B4-BE49-F238E27FC236}">
                <a16:creationId xmlns:a16="http://schemas.microsoft.com/office/drawing/2014/main" id="{F381961E-68AB-4854-8F14-43CEBBA1E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55" y="3429000"/>
            <a:ext cx="6444285" cy="327822"/>
          </a:xfrm>
          <a:prstGeom prst="rect">
            <a:avLst/>
          </a:prstGeom>
        </p:spPr>
      </p:pic>
    </p:spTree>
    <p:extLst>
      <p:ext uri="{BB962C8B-B14F-4D97-AF65-F5344CB8AC3E}">
        <p14:creationId xmlns:p14="http://schemas.microsoft.com/office/powerpoint/2010/main" val="1780673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DML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93899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SELECT </a:t>
            </a:r>
          </a:p>
          <a:p>
            <a:pPr algn="just">
              <a:buClr>
                <a:srgbClr val="0070C0"/>
              </a:buClr>
            </a:pPr>
            <a:r>
              <a:rPr lang="en-US" sz="2400" dirty="0">
                <a:solidFill>
                  <a:schemeClr val="bg1"/>
                </a:solidFill>
              </a:rPr>
              <a:t>The SELECT command retrieves data from one or more tables. Allows to query the database, filter results, and view records without making any permanent alterations to the underlying data. Because of its read-only nature, some definitions separate it into its own category called </a:t>
            </a:r>
            <a:r>
              <a:rPr lang="en-US" sz="2400" dirty="0">
                <a:solidFill>
                  <a:srgbClr val="FFC000"/>
                </a:solidFill>
              </a:rPr>
              <a:t>Data Query Language (DQL).</a:t>
            </a:r>
          </a:p>
        </p:txBody>
      </p:sp>
      <p:pic>
        <p:nvPicPr>
          <p:cNvPr id="5" name="Picture 4">
            <a:extLst>
              <a:ext uri="{FF2B5EF4-FFF2-40B4-BE49-F238E27FC236}">
                <a16:creationId xmlns:a16="http://schemas.microsoft.com/office/drawing/2014/main" id="{1F74C2F4-B3BA-4800-96FB-7ADFEDFF8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9319" y="3983738"/>
            <a:ext cx="5633357" cy="664270"/>
          </a:xfrm>
          <a:prstGeom prst="rect">
            <a:avLst/>
          </a:prstGeom>
        </p:spPr>
      </p:pic>
    </p:spTree>
    <p:extLst>
      <p:ext uri="{BB962C8B-B14F-4D97-AF65-F5344CB8AC3E}">
        <p14:creationId xmlns:p14="http://schemas.microsoft.com/office/powerpoint/2010/main" val="2310222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9C4E5BDA-0E0B-44EB-AA63-F31F9C3F2EF7}"/>
              </a:ext>
            </a:extLst>
          </p:cNvPr>
          <p:cNvSpPr txBox="1"/>
          <p:nvPr/>
        </p:nvSpPr>
        <p:spPr>
          <a:xfrm>
            <a:off x="933091" y="1453551"/>
            <a:ext cx="10325817" cy="2677656"/>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Data Control Language (DCL)</a:t>
            </a:r>
          </a:p>
          <a:p>
            <a:pPr algn="just">
              <a:buClr>
                <a:srgbClr val="0070C0"/>
              </a:buClr>
            </a:pPr>
            <a:r>
              <a:rPr lang="en-US" sz="2400" dirty="0">
                <a:solidFill>
                  <a:schemeClr val="bg1"/>
                </a:solidFill>
              </a:rPr>
              <a:t>DCL commands are used to </a:t>
            </a:r>
            <a:r>
              <a:rPr lang="en-US" sz="2400" dirty="0">
                <a:solidFill>
                  <a:srgbClr val="FF00FF"/>
                </a:solidFill>
              </a:rPr>
              <a:t>GRANT</a:t>
            </a:r>
            <a:r>
              <a:rPr lang="en-US" sz="2400" dirty="0">
                <a:solidFill>
                  <a:schemeClr val="bg1"/>
                </a:solidFill>
              </a:rPr>
              <a:t> and </a:t>
            </a:r>
            <a:r>
              <a:rPr lang="en-US" sz="2400" dirty="0">
                <a:solidFill>
                  <a:srgbClr val="FF00FF"/>
                </a:solidFill>
              </a:rPr>
              <a:t>TAKE BACK </a:t>
            </a:r>
            <a:r>
              <a:rPr lang="en-US" sz="2400" dirty="0">
                <a:solidFill>
                  <a:schemeClr val="bg1"/>
                </a:solidFill>
              </a:rPr>
              <a:t>authority from any database user.</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Here are some commands that come under DCL:</a:t>
            </a:r>
          </a:p>
          <a:p>
            <a:pPr marL="342900" indent="-342900" algn="just">
              <a:buClr>
                <a:srgbClr val="0070C0"/>
              </a:buClr>
              <a:buFont typeface="Wingdings" panose="05000000000000000000" pitchFamily="2" charset="2"/>
              <a:buChar char="Ø"/>
            </a:pPr>
            <a:r>
              <a:rPr lang="en-US" sz="2400" dirty="0">
                <a:solidFill>
                  <a:srgbClr val="FFC000"/>
                </a:solidFill>
              </a:rPr>
              <a:t>Grant</a:t>
            </a:r>
          </a:p>
          <a:p>
            <a:pPr marL="342900" indent="-342900" algn="just">
              <a:buClr>
                <a:srgbClr val="0070C0"/>
              </a:buClr>
              <a:buFont typeface="Wingdings" panose="05000000000000000000" pitchFamily="2" charset="2"/>
              <a:buChar char="Ø"/>
            </a:pPr>
            <a:r>
              <a:rPr lang="en-US" sz="2400" dirty="0">
                <a:solidFill>
                  <a:srgbClr val="FFC000"/>
                </a:solidFill>
              </a:rPr>
              <a:t>Revoke</a:t>
            </a:r>
          </a:p>
        </p:txBody>
      </p:sp>
    </p:spTree>
    <p:extLst>
      <p:ext uri="{BB962C8B-B14F-4D97-AF65-F5344CB8AC3E}">
        <p14:creationId xmlns:p14="http://schemas.microsoft.com/office/powerpoint/2010/main" val="1832601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GRANT </a:t>
            </a:r>
          </a:p>
          <a:p>
            <a:pPr algn="just">
              <a:buClr>
                <a:srgbClr val="0070C0"/>
              </a:buClr>
            </a:pPr>
            <a:r>
              <a:rPr lang="en-US" sz="2400" dirty="0">
                <a:solidFill>
                  <a:schemeClr val="bg1"/>
                </a:solidFill>
              </a:rPr>
              <a:t>This command assigns specific privileges or permissions to a user or database role. Allows administrators to give users the ability to read, write, modify, or delete data, as well as the ability to execute specific DDL commands.</a:t>
            </a:r>
            <a:endParaRPr lang="en-US" sz="2400" dirty="0">
              <a:solidFill>
                <a:srgbClr val="FFC000"/>
              </a:solidFill>
            </a:endParaRPr>
          </a:p>
        </p:txBody>
      </p:sp>
      <p:pic>
        <p:nvPicPr>
          <p:cNvPr id="3" name="Picture 2">
            <a:extLst>
              <a:ext uri="{FF2B5EF4-FFF2-40B4-BE49-F238E27FC236}">
                <a16:creationId xmlns:a16="http://schemas.microsoft.com/office/drawing/2014/main" id="{6F7B76CB-2961-42D3-9C3C-C6D2ED1DE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4330" y="3429000"/>
            <a:ext cx="8963336" cy="1561467"/>
          </a:xfrm>
          <a:prstGeom prst="rect">
            <a:avLst/>
          </a:prstGeom>
        </p:spPr>
      </p:pic>
    </p:spTree>
    <p:extLst>
      <p:ext uri="{BB962C8B-B14F-4D97-AF65-F5344CB8AC3E}">
        <p14:creationId xmlns:p14="http://schemas.microsoft.com/office/powerpoint/2010/main" val="4029797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REVOKE </a:t>
            </a:r>
          </a:p>
          <a:p>
            <a:pPr algn="just">
              <a:buClr>
                <a:srgbClr val="0070C0"/>
              </a:buClr>
            </a:pPr>
            <a:r>
              <a:rPr lang="en-US" sz="2400" dirty="0">
                <a:solidFill>
                  <a:schemeClr val="bg1"/>
                </a:solidFill>
              </a:rPr>
              <a:t>This command withdraws previously assigned permissions from a user or role. Removes specific privileges, ensuring a user can no longer perform actions they were previously allowed to do.</a:t>
            </a:r>
            <a:endParaRPr lang="en-US" sz="2400" dirty="0">
              <a:solidFill>
                <a:srgbClr val="FFC000"/>
              </a:solidFill>
            </a:endParaRPr>
          </a:p>
        </p:txBody>
      </p:sp>
      <p:pic>
        <p:nvPicPr>
          <p:cNvPr id="5" name="Picture 4">
            <a:extLst>
              <a:ext uri="{FF2B5EF4-FFF2-40B4-BE49-F238E27FC236}">
                <a16:creationId xmlns:a16="http://schemas.microsoft.com/office/drawing/2014/main" id="{32F64923-9C0A-4CA3-A93C-21DFD34CB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3122" y="3429000"/>
            <a:ext cx="8005751" cy="647017"/>
          </a:xfrm>
          <a:prstGeom prst="rect">
            <a:avLst/>
          </a:prstGeom>
        </p:spPr>
      </p:pic>
    </p:spTree>
    <p:extLst>
      <p:ext uri="{BB962C8B-B14F-4D97-AF65-F5344CB8AC3E}">
        <p14:creationId xmlns:p14="http://schemas.microsoft.com/office/powerpoint/2010/main" val="1273978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DCL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89" y="1453551"/>
            <a:ext cx="10325817" cy="415498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Common Privileges Managed by DCL</a:t>
            </a:r>
          </a:p>
          <a:p>
            <a:pPr marL="342900" indent="-342900" algn="just">
              <a:buClr>
                <a:srgbClr val="0070C0"/>
              </a:buClr>
              <a:buFont typeface="Calibri" panose="020F0502020204030204" pitchFamily="34" charset="0"/>
              <a:buChar char="●"/>
            </a:pPr>
            <a:endParaRPr lang="en-US" sz="2400" dirty="0">
              <a:solidFill>
                <a:srgbClr val="FF00FF"/>
              </a:solidFill>
            </a:endParaRPr>
          </a:p>
          <a:p>
            <a:pPr algn="just">
              <a:buClr>
                <a:srgbClr val="0070C0"/>
              </a:buClr>
            </a:pPr>
            <a:r>
              <a:rPr lang="en-US" sz="2400" dirty="0">
                <a:solidFill>
                  <a:schemeClr val="bg1"/>
                </a:solidFill>
              </a:rPr>
              <a:t>When using GRANT or REVOKE, you typically specify one or more of the following privileges:</a:t>
            </a:r>
          </a:p>
          <a:p>
            <a:pPr algn="just">
              <a:buClr>
                <a:srgbClr val="0070C0"/>
              </a:buClr>
            </a:pPr>
            <a:endParaRPr lang="en-US" sz="2400" dirty="0">
              <a:solidFill>
                <a:schemeClr val="bg1"/>
              </a:solidFill>
            </a:endParaRPr>
          </a:p>
          <a:p>
            <a:pPr marL="342900" indent="-342900" algn="just">
              <a:buClr>
                <a:srgbClr val="0070C0"/>
              </a:buClr>
              <a:buFont typeface="Wingdings" panose="05000000000000000000" pitchFamily="2" charset="2"/>
              <a:buChar char="Ø"/>
            </a:pPr>
            <a:r>
              <a:rPr lang="en-US" sz="2400" dirty="0">
                <a:solidFill>
                  <a:srgbClr val="FFC000"/>
                </a:solidFill>
              </a:rPr>
              <a:t>SELECT</a:t>
            </a:r>
            <a:r>
              <a:rPr lang="en-US" sz="2400" dirty="0">
                <a:solidFill>
                  <a:schemeClr val="bg1"/>
                </a:solidFill>
              </a:rPr>
              <a:t>: Ability to look at or query the data.</a:t>
            </a:r>
          </a:p>
          <a:p>
            <a:pPr marL="342900" indent="-342900" algn="just">
              <a:buClr>
                <a:srgbClr val="0070C0"/>
              </a:buClr>
              <a:buFont typeface="Wingdings" panose="05000000000000000000" pitchFamily="2" charset="2"/>
              <a:buChar char="Ø"/>
            </a:pPr>
            <a:r>
              <a:rPr lang="en-US" sz="2400" dirty="0">
                <a:solidFill>
                  <a:srgbClr val="FFC000"/>
                </a:solidFill>
              </a:rPr>
              <a:t>INSERT</a:t>
            </a:r>
            <a:r>
              <a:rPr lang="en-US" sz="2400" dirty="0">
                <a:solidFill>
                  <a:schemeClr val="bg1"/>
                </a:solidFill>
              </a:rPr>
              <a:t>: Ability to add new rows of data.</a:t>
            </a:r>
          </a:p>
          <a:p>
            <a:pPr marL="342900" indent="-342900" algn="just">
              <a:buClr>
                <a:srgbClr val="0070C0"/>
              </a:buClr>
              <a:buFont typeface="Wingdings" panose="05000000000000000000" pitchFamily="2" charset="2"/>
              <a:buChar char="Ø"/>
            </a:pPr>
            <a:r>
              <a:rPr lang="en-US" sz="2400" dirty="0">
                <a:solidFill>
                  <a:srgbClr val="FFC000"/>
                </a:solidFill>
              </a:rPr>
              <a:t>UPDATE</a:t>
            </a:r>
            <a:r>
              <a:rPr lang="en-US" sz="2400" dirty="0">
                <a:solidFill>
                  <a:schemeClr val="bg1"/>
                </a:solidFill>
              </a:rPr>
              <a:t>: Ability to modify existing data.</a:t>
            </a:r>
          </a:p>
          <a:p>
            <a:pPr marL="342900" indent="-342900" algn="just">
              <a:buClr>
                <a:srgbClr val="0070C0"/>
              </a:buClr>
              <a:buFont typeface="Wingdings" panose="05000000000000000000" pitchFamily="2" charset="2"/>
              <a:buChar char="Ø"/>
            </a:pPr>
            <a:r>
              <a:rPr lang="en-US" sz="2400" dirty="0">
                <a:solidFill>
                  <a:srgbClr val="FFC000"/>
                </a:solidFill>
              </a:rPr>
              <a:t>DELETE</a:t>
            </a:r>
            <a:r>
              <a:rPr lang="en-US" sz="2400" dirty="0">
                <a:solidFill>
                  <a:schemeClr val="bg1"/>
                </a:solidFill>
              </a:rPr>
              <a:t>: Ability to remove rows of data.</a:t>
            </a:r>
          </a:p>
          <a:p>
            <a:pPr marL="342900" indent="-342900" algn="just">
              <a:buClr>
                <a:srgbClr val="0070C0"/>
              </a:buClr>
              <a:buFont typeface="Wingdings" panose="05000000000000000000" pitchFamily="2" charset="2"/>
              <a:buChar char="Ø"/>
            </a:pPr>
            <a:r>
              <a:rPr lang="en-US" sz="2400" dirty="0">
                <a:solidFill>
                  <a:srgbClr val="FFC000"/>
                </a:solidFill>
              </a:rPr>
              <a:t>EXECUTE</a:t>
            </a:r>
            <a:r>
              <a:rPr lang="en-US" sz="2400" dirty="0">
                <a:solidFill>
                  <a:schemeClr val="bg1"/>
                </a:solidFill>
              </a:rPr>
              <a:t>: Ability to run stored procedures or functions.</a:t>
            </a:r>
          </a:p>
          <a:p>
            <a:pPr marL="342900" indent="-342900" algn="just">
              <a:buClr>
                <a:srgbClr val="0070C0"/>
              </a:buClr>
              <a:buFont typeface="Wingdings" panose="05000000000000000000" pitchFamily="2" charset="2"/>
              <a:buChar char="Ø"/>
            </a:pPr>
            <a:r>
              <a:rPr lang="en-US" sz="2400" dirty="0">
                <a:solidFill>
                  <a:srgbClr val="FFC000"/>
                </a:solidFill>
              </a:rPr>
              <a:t>ALL</a:t>
            </a:r>
            <a:r>
              <a:rPr lang="en-US" sz="2400" dirty="0">
                <a:solidFill>
                  <a:schemeClr val="bg1"/>
                </a:solidFill>
              </a:rPr>
              <a:t> </a:t>
            </a:r>
            <a:r>
              <a:rPr lang="en-US" sz="2400" dirty="0">
                <a:solidFill>
                  <a:srgbClr val="FFC000"/>
                </a:solidFill>
              </a:rPr>
              <a:t>PRIVILEGES</a:t>
            </a:r>
            <a:r>
              <a:rPr lang="en-US" sz="2400" dirty="0">
                <a:solidFill>
                  <a:schemeClr val="bg1"/>
                </a:solidFill>
              </a:rPr>
              <a:t>: Grants all available structural and data permissions to the user. </a:t>
            </a:r>
          </a:p>
        </p:txBody>
      </p:sp>
    </p:spTree>
    <p:extLst>
      <p:ext uri="{BB962C8B-B14F-4D97-AF65-F5344CB8AC3E}">
        <p14:creationId xmlns:p14="http://schemas.microsoft.com/office/powerpoint/2010/main" val="2959514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961376" y="530221"/>
            <a:ext cx="6269248"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9C4E5BDA-0E0B-44EB-AA63-F31F9C3F2EF7}"/>
              </a:ext>
            </a:extLst>
          </p:cNvPr>
          <p:cNvSpPr txBox="1"/>
          <p:nvPr/>
        </p:nvSpPr>
        <p:spPr>
          <a:xfrm>
            <a:off x="933091" y="1453551"/>
            <a:ext cx="10325817" cy="4524315"/>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00B0F0"/>
                </a:solidFill>
              </a:rPr>
              <a:t>Transaction Control Language (TCL)</a:t>
            </a:r>
          </a:p>
          <a:p>
            <a:pPr algn="just">
              <a:buClr>
                <a:srgbClr val="0070C0"/>
              </a:buClr>
            </a:pPr>
            <a:r>
              <a:rPr lang="en-US" sz="2400" dirty="0">
                <a:solidFill>
                  <a:schemeClr val="bg1"/>
                </a:solidFill>
              </a:rPr>
              <a:t>TCL commands </a:t>
            </a:r>
            <a:r>
              <a:rPr lang="en-US" sz="2400" dirty="0">
                <a:solidFill>
                  <a:srgbClr val="FF00FF"/>
                </a:solidFill>
              </a:rPr>
              <a:t>can only use with </a:t>
            </a:r>
            <a:r>
              <a:rPr lang="en-US" sz="2400" dirty="0">
                <a:solidFill>
                  <a:schemeClr val="bg1"/>
                </a:solidFill>
              </a:rPr>
              <a:t>DML commands like INSERT, DELETE and UPDATE only.</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These operations are automatically committed in the database that's why they cannot be used while creating tables or dropping them.</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Here are some commands that come under TCL:</a:t>
            </a:r>
          </a:p>
          <a:p>
            <a:pPr marL="800100" lvl="1" indent="-342900" algn="just">
              <a:buClr>
                <a:srgbClr val="0070C0"/>
              </a:buClr>
              <a:buFont typeface="Wingdings" panose="05000000000000000000" pitchFamily="2" charset="2"/>
              <a:buChar char="Ø"/>
            </a:pPr>
            <a:r>
              <a:rPr lang="en-US" sz="2400" dirty="0">
                <a:solidFill>
                  <a:srgbClr val="FFC000"/>
                </a:solidFill>
              </a:rPr>
              <a:t>COMMIT</a:t>
            </a:r>
          </a:p>
          <a:p>
            <a:pPr marL="800100" lvl="1" indent="-342900" algn="just">
              <a:buClr>
                <a:srgbClr val="0070C0"/>
              </a:buClr>
              <a:buFont typeface="Wingdings" panose="05000000000000000000" pitchFamily="2" charset="2"/>
              <a:buChar char="Ø"/>
            </a:pPr>
            <a:r>
              <a:rPr lang="en-US" sz="2400" dirty="0">
                <a:solidFill>
                  <a:srgbClr val="FFC000"/>
                </a:solidFill>
              </a:rPr>
              <a:t>ROLLBACK</a:t>
            </a:r>
          </a:p>
          <a:p>
            <a:pPr marL="800100" lvl="1" indent="-342900" algn="just">
              <a:buClr>
                <a:srgbClr val="0070C0"/>
              </a:buClr>
              <a:buFont typeface="Wingdings" panose="05000000000000000000" pitchFamily="2" charset="2"/>
              <a:buChar char="Ø"/>
            </a:pPr>
            <a:r>
              <a:rPr lang="en-US" sz="2400" dirty="0">
                <a:solidFill>
                  <a:srgbClr val="FFC000"/>
                </a:solidFill>
              </a:rPr>
              <a:t>SAVEPOINT</a:t>
            </a:r>
          </a:p>
        </p:txBody>
      </p:sp>
    </p:spTree>
    <p:extLst>
      <p:ext uri="{BB962C8B-B14F-4D97-AF65-F5344CB8AC3E}">
        <p14:creationId xmlns:p14="http://schemas.microsoft.com/office/powerpoint/2010/main" val="3388259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TCL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COMMIT </a:t>
            </a:r>
          </a:p>
          <a:p>
            <a:pPr algn="just">
              <a:buClr>
                <a:srgbClr val="0070C0"/>
              </a:buClr>
            </a:pPr>
            <a:r>
              <a:rPr lang="en-US" sz="2400" dirty="0">
                <a:solidFill>
                  <a:schemeClr val="bg1"/>
                </a:solidFill>
              </a:rPr>
              <a:t>This command permanently saves all the changes made during the current transaction to the database. Once a COMMIT is executed, the changes become visible to other database users, and they cannot be undone using a rollback.</a:t>
            </a:r>
            <a:endParaRPr lang="en-US" sz="2400" dirty="0">
              <a:solidFill>
                <a:srgbClr val="FFC000"/>
              </a:solidFill>
            </a:endParaRPr>
          </a:p>
        </p:txBody>
      </p:sp>
      <p:pic>
        <p:nvPicPr>
          <p:cNvPr id="3" name="Picture 2">
            <a:extLst>
              <a:ext uri="{FF2B5EF4-FFF2-40B4-BE49-F238E27FC236}">
                <a16:creationId xmlns:a16="http://schemas.microsoft.com/office/drawing/2014/main" id="{61A4AA2B-4840-4634-99F5-2DA3C85C3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091" y="3429000"/>
            <a:ext cx="8859813" cy="1595974"/>
          </a:xfrm>
          <a:prstGeom prst="rect">
            <a:avLst/>
          </a:prstGeom>
        </p:spPr>
      </p:pic>
    </p:spTree>
    <p:extLst>
      <p:ext uri="{BB962C8B-B14F-4D97-AF65-F5344CB8AC3E}">
        <p14:creationId xmlns:p14="http://schemas.microsoft.com/office/powerpoint/2010/main" val="2494321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TCL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93899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ROLLBACK </a:t>
            </a:r>
          </a:p>
          <a:p>
            <a:pPr algn="just">
              <a:buClr>
                <a:srgbClr val="0070C0"/>
              </a:buClr>
            </a:pPr>
            <a:r>
              <a:rPr lang="en-US" sz="2400" dirty="0">
                <a:solidFill>
                  <a:schemeClr val="bg1"/>
                </a:solidFill>
              </a:rPr>
              <a:t>This command completely undoes or cancels the changes made in the current transaction. If an error occurs or a business rule is violated during a multi-step operation, ROLLBACK restores the database to its previous state before the transaction started.</a:t>
            </a:r>
            <a:endParaRPr lang="en-US" sz="2400" dirty="0">
              <a:solidFill>
                <a:srgbClr val="FFC000"/>
              </a:solidFill>
            </a:endParaRPr>
          </a:p>
        </p:txBody>
      </p:sp>
      <p:pic>
        <p:nvPicPr>
          <p:cNvPr id="5" name="Picture 4">
            <a:extLst>
              <a:ext uri="{FF2B5EF4-FFF2-40B4-BE49-F238E27FC236}">
                <a16:creationId xmlns:a16="http://schemas.microsoft.com/office/drawing/2014/main" id="{89945D7D-2FB0-4F85-A363-F96A8926F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3647" y="3686110"/>
            <a:ext cx="6064702" cy="1259526"/>
          </a:xfrm>
          <a:prstGeom prst="rect">
            <a:avLst/>
          </a:prstGeom>
        </p:spPr>
      </p:pic>
    </p:spTree>
    <p:extLst>
      <p:ext uri="{BB962C8B-B14F-4D97-AF65-F5344CB8AC3E}">
        <p14:creationId xmlns:p14="http://schemas.microsoft.com/office/powerpoint/2010/main" val="4201441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664033" y="530221"/>
            <a:ext cx="6863931"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TCL</a:t>
            </a:r>
            <a:r>
              <a:rPr lang="en-US" sz="5400" dirty="0">
                <a:solidFill>
                  <a:srgbClr val="FFFF00"/>
                </a:solidFill>
                <a:latin typeface="Roboto ExtraBold" panose="02000000000000000000" pitchFamily="2" charset="0"/>
                <a:ea typeface="Roboto ExtraBold" panose="02000000000000000000" pitchFamily="2" charset="0"/>
              </a:rPr>
              <a:t> SQL</a:t>
            </a:r>
            <a:r>
              <a:rPr lang="en-US" sz="5400" dirty="0">
                <a:solidFill>
                  <a:srgbClr val="00B0F0"/>
                </a:solidFill>
                <a:latin typeface="Roboto ExtraBold" panose="02000000000000000000" pitchFamily="2" charset="0"/>
                <a:ea typeface="Roboto ExtraBold" panose="02000000000000000000" pitchFamily="2" charset="0"/>
              </a:rPr>
              <a:t> Commands</a:t>
            </a:r>
            <a:endParaRPr lang="en-US" sz="5400" dirty="0">
              <a:solidFill>
                <a:srgbClr val="FFFF00"/>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5897A174-E6C2-4A4C-86D8-916DA7E86743}"/>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SAVEPOINT </a:t>
            </a:r>
          </a:p>
          <a:p>
            <a:pPr algn="just">
              <a:buClr>
                <a:srgbClr val="0070C0"/>
              </a:buClr>
            </a:pPr>
            <a:r>
              <a:rPr lang="en-US" sz="2400" dirty="0">
                <a:solidFill>
                  <a:schemeClr val="bg1"/>
                </a:solidFill>
              </a:rPr>
              <a:t>This command creates a temporary checkpoint within a transaction. Instead of rolling back the entire transaction, you can use a </a:t>
            </a:r>
            <a:r>
              <a:rPr lang="en-US" sz="2400" dirty="0" err="1">
                <a:solidFill>
                  <a:schemeClr val="bg1"/>
                </a:solidFill>
              </a:rPr>
              <a:t>savepoint</a:t>
            </a:r>
            <a:r>
              <a:rPr lang="en-US" sz="2400" dirty="0">
                <a:solidFill>
                  <a:schemeClr val="bg1"/>
                </a:solidFill>
              </a:rPr>
              <a:t> to roll back only the specific operations that occurred after the checkpoint was created.</a:t>
            </a:r>
            <a:endParaRPr lang="en-US" sz="2400" dirty="0">
              <a:solidFill>
                <a:srgbClr val="FFC000"/>
              </a:solidFill>
            </a:endParaRPr>
          </a:p>
        </p:txBody>
      </p:sp>
      <p:pic>
        <p:nvPicPr>
          <p:cNvPr id="10" name="Picture 9">
            <a:extLst>
              <a:ext uri="{FF2B5EF4-FFF2-40B4-BE49-F238E27FC236}">
                <a16:creationId xmlns:a16="http://schemas.microsoft.com/office/drawing/2014/main" id="{C44A5B05-03D5-4127-BB8B-E59000D922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566" y="3429000"/>
            <a:ext cx="11378864" cy="2527678"/>
          </a:xfrm>
          <a:prstGeom prst="rect">
            <a:avLst/>
          </a:prstGeom>
        </p:spPr>
      </p:pic>
    </p:spTree>
    <p:extLst>
      <p:ext uri="{BB962C8B-B14F-4D97-AF65-F5344CB8AC3E}">
        <p14:creationId xmlns:p14="http://schemas.microsoft.com/office/powerpoint/2010/main" val="215415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1754326"/>
          </a:xfrm>
          <a:prstGeom prst="rect">
            <a:avLst/>
          </a:prstGeom>
          <a:noFill/>
        </p:spPr>
        <p:txBody>
          <a:bodyPr wrap="square" rtlCol="0">
            <a:spAutoFit/>
          </a:bodyPr>
          <a:lstStyle/>
          <a:p>
            <a:pPr algn="ctr"/>
            <a:r>
              <a:rPr lang="en-US" sz="5400" dirty="0">
                <a:solidFill>
                  <a:schemeClr val="bg1"/>
                </a:solidFill>
                <a:latin typeface="Roboto ExtraBold" panose="02000000000000000000" pitchFamily="2" charset="0"/>
                <a:ea typeface="Roboto ExtraBold" panose="02000000000000000000" pitchFamily="2" charset="0"/>
              </a:rPr>
              <a:t>The Complete </a:t>
            </a: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Language Family</a:t>
            </a:r>
          </a:p>
        </p:txBody>
      </p:sp>
      <p:pic>
        <p:nvPicPr>
          <p:cNvPr id="3" name="Picture 2">
            <a:extLst>
              <a:ext uri="{FF2B5EF4-FFF2-40B4-BE49-F238E27FC236}">
                <a16:creationId xmlns:a16="http://schemas.microsoft.com/office/drawing/2014/main" id="{035DB6E7-0B89-44D4-ACA9-4CD614C71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181" y="2536179"/>
            <a:ext cx="11407635" cy="2268725"/>
          </a:xfrm>
          <a:prstGeom prst="rect">
            <a:avLst/>
          </a:prstGeom>
        </p:spPr>
      </p:pic>
    </p:spTree>
    <p:extLst>
      <p:ext uri="{BB962C8B-B14F-4D97-AF65-F5344CB8AC3E}">
        <p14:creationId xmlns:p14="http://schemas.microsoft.com/office/powerpoint/2010/main" val="3835962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a:t>
            </a:r>
          </a:p>
        </p:txBody>
      </p:sp>
      <p:sp>
        <p:nvSpPr>
          <p:cNvPr id="5" name="TextBox 4">
            <a:extLst>
              <a:ext uri="{FF2B5EF4-FFF2-40B4-BE49-F238E27FC236}">
                <a16:creationId xmlns:a16="http://schemas.microsoft.com/office/drawing/2014/main" id="{02E50ED4-2A94-4DE5-95AB-988C124E5935}"/>
              </a:ext>
            </a:extLst>
          </p:cNvPr>
          <p:cNvSpPr txBox="1"/>
          <p:nvPr/>
        </p:nvSpPr>
        <p:spPr>
          <a:xfrm>
            <a:off x="933090" y="2644170"/>
            <a:ext cx="10325817" cy="1569660"/>
          </a:xfrm>
          <a:prstGeom prst="rect">
            <a:avLst/>
          </a:prstGeom>
          <a:noFill/>
        </p:spPr>
        <p:txBody>
          <a:bodyPr wrap="square" rtlCol="0">
            <a:spAutoFit/>
          </a:bodyPr>
          <a:lstStyle/>
          <a:p>
            <a:pPr algn="just">
              <a:buClr>
                <a:srgbClr val="0070C0"/>
              </a:buClr>
            </a:pPr>
            <a:r>
              <a:rPr lang="en-US" sz="2400" dirty="0">
                <a:solidFill>
                  <a:schemeClr val="bg1"/>
                </a:solidFill>
              </a:rPr>
              <a:t>SQL operators are </a:t>
            </a:r>
            <a:r>
              <a:rPr lang="en-US" sz="2400" dirty="0">
                <a:solidFill>
                  <a:srgbClr val="92D050"/>
                </a:solidFill>
              </a:rPr>
              <a:t>reserved words or</a:t>
            </a:r>
            <a:r>
              <a:rPr lang="en-US" sz="2400" dirty="0">
                <a:solidFill>
                  <a:schemeClr val="bg1"/>
                </a:solidFill>
              </a:rPr>
              <a:t> </a:t>
            </a:r>
            <a:r>
              <a:rPr lang="en-US" sz="2400" dirty="0">
                <a:solidFill>
                  <a:srgbClr val="92D050"/>
                </a:solidFill>
              </a:rPr>
              <a:t>characters</a:t>
            </a:r>
            <a:r>
              <a:rPr lang="en-US" sz="2400" dirty="0">
                <a:solidFill>
                  <a:schemeClr val="bg1"/>
                </a:solidFill>
              </a:rPr>
              <a:t> used in the </a:t>
            </a:r>
            <a:r>
              <a:rPr lang="en-US" sz="2400" dirty="0">
                <a:solidFill>
                  <a:srgbClr val="FF0000"/>
                </a:solidFill>
              </a:rPr>
              <a:t>WHERE</a:t>
            </a:r>
            <a:r>
              <a:rPr lang="en-US" sz="2400" dirty="0">
                <a:solidFill>
                  <a:schemeClr val="bg1"/>
                </a:solidFill>
              </a:rPr>
              <a:t> clause of an SQL statement to perform operations, filter data, and combine multiple conditions. They are broadly categorized into </a:t>
            </a:r>
            <a:r>
              <a:rPr lang="en-US" sz="2400" dirty="0">
                <a:solidFill>
                  <a:srgbClr val="FF00FF"/>
                </a:solidFill>
              </a:rPr>
              <a:t>Arithmetic</a:t>
            </a:r>
            <a:r>
              <a:rPr lang="en-US" sz="2400" dirty="0">
                <a:solidFill>
                  <a:schemeClr val="bg1"/>
                </a:solidFill>
              </a:rPr>
              <a:t>, </a:t>
            </a:r>
            <a:r>
              <a:rPr lang="en-US" sz="2400" dirty="0">
                <a:solidFill>
                  <a:srgbClr val="FF00FF"/>
                </a:solidFill>
              </a:rPr>
              <a:t>Comparison</a:t>
            </a:r>
            <a:r>
              <a:rPr lang="en-US" sz="2400" dirty="0">
                <a:solidFill>
                  <a:schemeClr val="bg1"/>
                </a:solidFill>
              </a:rPr>
              <a:t>, </a:t>
            </a:r>
            <a:r>
              <a:rPr lang="en-US" sz="2400" dirty="0">
                <a:solidFill>
                  <a:srgbClr val="FF00FF"/>
                </a:solidFill>
              </a:rPr>
              <a:t>Logical</a:t>
            </a:r>
            <a:r>
              <a:rPr lang="en-US" sz="2400" dirty="0">
                <a:solidFill>
                  <a:schemeClr val="bg1"/>
                </a:solidFill>
              </a:rPr>
              <a:t>, and </a:t>
            </a:r>
            <a:r>
              <a:rPr lang="en-US" sz="2400" dirty="0">
                <a:solidFill>
                  <a:srgbClr val="FF00FF"/>
                </a:solidFill>
              </a:rPr>
              <a:t>Bitwise</a:t>
            </a:r>
            <a:r>
              <a:rPr lang="en-US" sz="2400" dirty="0">
                <a:solidFill>
                  <a:schemeClr val="bg1"/>
                </a:solidFill>
              </a:rPr>
              <a:t> operators.</a:t>
            </a:r>
            <a:endParaRPr lang="en-US" sz="2400" dirty="0">
              <a:solidFill>
                <a:srgbClr val="FFC000"/>
              </a:solidFill>
            </a:endParaRPr>
          </a:p>
        </p:txBody>
      </p:sp>
    </p:spTree>
    <p:extLst>
      <p:ext uri="{BB962C8B-B14F-4D97-AF65-F5344CB8AC3E}">
        <p14:creationId xmlns:p14="http://schemas.microsoft.com/office/powerpoint/2010/main" val="2562614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a:t>
            </a: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830997"/>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Arithmetic Operators</a:t>
            </a:r>
          </a:p>
          <a:p>
            <a:pPr algn="just">
              <a:buClr>
                <a:srgbClr val="0070C0"/>
              </a:buClr>
            </a:pPr>
            <a:r>
              <a:rPr lang="en-US" sz="2400" b="0" i="0" dirty="0">
                <a:solidFill>
                  <a:srgbClr val="DDDDDD"/>
                </a:solidFill>
                <a:effectLst/>
                <a:latin typeface="-apple-system"/>
              </a:rPr>
              <a:t>These operators are used to perform mathematical calculations on numeric data.</a:t>
            </a:r>
            <a:endParaRPr lang="en-US" sz="2400" dirty="0">
              <a:solidFill>
                <a:srgbClr val="FFC000"/>
              </a:solidFill>
            </a:endParaRPr>
          </a:p>
        </p:txBody>
      </p:sp>
      <p:pic>
        <p:nvPicPr>
          <p:cNvPr id="3" name="Picture 2">
            <a:extLst>
              <a:ext uri="{FF2B5EF4-FFF2-40B4-BE49-F238E27FC236}">
                <a16:creationId xmlns:a16="http://schemas.microsoft.com/office/drawing/2014/main" id="{1A05A520-8183-44A4-AAE0-761E02683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598" y="2523069"/>
            <a:ext cx="10524802" cy="2881380"/>
          </a:xfrm>
          <a:prstGeom prst="rect">
            <a:avLst/>
          </a:prstGeom>
        </p:spPr>
      </p:pic>
    </p:spTree>
    <p:extLst>
      <p:ext uri="{BB962C8B-B14F-4D97-AF65-F5344CB8AC3E}">
        <p14:creationId xmlns:p14="http://schemas.microsoft.com/office/powerpoint/2010/main" val="3590977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a:t>
            </a: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1200329"/>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Comparison (Relational) Operators</a:t>
            </a:r>
          </a:p>
          <a:p>
            <a:pPr algn="just">
              <a:buClr>
                <a:srgbClr val="0070C0"/>
              </a:buClr>
            </a:pPr>
            <a:r>
              <a:rPr lang="en-US" sz="2400" b="0" i="0" dirty="0">
                <a:solidFill>
                  <a:srgbClr val="DDDDDD"/>
                </a:solidFill>
                <a:effectLst/>
                <a:latin typeface="-apple-system"/>
              </a:rPr>
              <a:t>These operators compare two values and return a </a:t>
            </a:r>
            <a:r>
              <a:rPr lang="en-US" sz="2400" b="0" i="0" dirty="0" err="1">
                <a:solidFill>
                  <a:srgbClr val="DDDDDD"/>
                </a:solidFill>
                <a:effectLst/>
                <a:latin typeface="-apple-system"/>
              </a:rPr>
              <a:t>boolean</a:t>
            </a:r>
            <a:r>
              <a:rPr lang="en-US" sz="2400" b="0" i="0" dirty="0">
                <a:solidFill>
                  <a:srgbClr val="DDDDDD"/>
                </a:solidFill>
                <a:effectLst/>
                <a:latin typeface="-apple-system"/>
              </a:rPr>
              <a:t> result (TRUE or FALSE). They are heavily used to filter rows.</a:t>
            </a:r>
            <a:endParaRPr lang="en-US" sz="2400" dirty="0">
              <a:solidFill>
                <a:srgbClr val="FFC000"/>
              </a:solidFill>
            </a:endParaRPr>
          </a:p>
        </p:txBody>
      </p:sp>
      <p:pic>
        <p:nvPicPr>
          <p:cNvPr id="5" name="Picture 4">
            <a:extLst>
              <a:ext uri="{FF2B5EF4-FFF2-40B4-BE49-F238E27FC236}">
                <a16:creationId xmlns:a16="http://schemas.microsoft.com/office/drawing/2014/main" id="{C0A1284E-886C-4C14-9C90-44D3221A61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4633" y="2904046"/>
            <a:ext cx="6202732" cy="3260963"/>
          </a:xfrm>
          <a:prstGeom prst="rect">
            <a:avLst/>
          </a:prstGeom>
        </p:spPr>
      </p:pic>
    </p:spTree>
    <p:extLst>
      <p:ext uri="{BB962C8B-B14F-4D97-AF65-F5344CB8AC3E}">
        <p14:creationId xmlns:p14="http://schemas.microsoft.com/office/powerpoint/2010/main" val="3584946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a:t>
            </a: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1200329"/>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Logical Operators</a:t>
            </a:r>
          </a:p>
          <a:p>
            <a:pPr algn="just">
              <a:buClr>
                <a:srgbClr val="0070C0"/>
              </a:buClr>
            </a:pPr>
            <a:r>
              <a:rPr lang="en-US" sz="2400" b="0" i="0" dirty="0">
                <a:solidFill>
                  <a:srgbClr val="DDDDDD"/>
                </a:solidFill>
                <a:effectLst/>
                <a:latin typeface="-apple-system"/>
              </a:rPr>
              <a:t>Logical operators combine multiple conditions or negate the truth value of a condition.</a:t>
            </a:r>
            <a:endParaRPr lang="en-US" sz="2400" dirty="0">
              <a:solidFill>
                <a:srgbClr val="FFC000"/>
              </a:solidFill>
            </a:endParaRPr>
          </a:p>
        </p:txBody>
      </p:sp>
      <p:pic>
        <p:nvPicPr>
          <p:cNvPr id="3" name="Picture 2">
            <a:extLst>
              <a:ext uri="{FF2B5EF4-FFF2-40B4-BE49-F238E27FC236}">
                <a16:creationId xmlns:a16="http://schemas.microsoft.com/office/drawing/2014/main" id="{D7C1788B-FA8B-404F-BF18-F7B9E3C5A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603" y="2653880"/>
            <a:ext cx="9402792" cy="4043084"/>
          </a:xfrm>
          <a:prstGeom prst="rect">
            <a:avLst/>
          </a:prstGeom>
        </p:spPr>
      </p:pic>
    </p:spTree>
    <p:extLst>
      <p:ext uri="{BB962C8B-B14F-4D97-AF65-F5344CB8AC3E}">
        <p14:creationId xmlns:p14="http://schemas.microsoft.com/office/powerpoint/2010/main" val="2908009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a:t>
            </a: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1569660"/>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Bitwise Operators</a:t>
            </a:r>
          </a:p>
          <a:p>
            <a:pPr algn="just">
              <a:buClr>
                <a:srgbClr val="0070C0"/>
              </a:buClr>
            </a:pPr>
            <a:r>
              <a:rPr lang="en-US" sz="2400" b="0" i="0" dirty="0">
                <a:solidFill>
                  <a:srgbClr val="DDDDDD"/>
                </a:solidFill>
                <a:effectLst/>
                <a:latin typeface="-apple-system"/>
              </a:rPr>
              <a:t>These operators perform bit-by-bit operations on integer data types. They are less common in standard data analysis queries but highly useful for low-level flag management.</a:t>
            </a:r>
            <a:endParaRPr lang="en-US" sz="2400" dirty="0">
              <a:solidFill>
                <a:srgbClr val="FFC000"/>
              </a:solidFill>
            </a:endParaRPr>
          </a:p>
        </p:txBody>
      </p:sp>
      <p:pic>
        <p:nvPicPr>
          <p:cNvPr id="5" name="Picture 4">
            <a:extLst>
              <a:ext uri="{FF2B5EF4-FFF2-40B4-BE49-F238E27FC236}">
                <a16:creationId xmlns:a16="http://schemas.microsoft.com/office/drawing/2014/main" id="{6FDD5193-380D-4082-BFC3-549E03821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3274" y="3429000"/>
            <a:ext cx="6625449" cy="2079080"/>
          </a:xfrm>
          <a:prstGeom prst="rect">
            <a:avLst/>
          </a:prstGeom>
        </p:spPr>
      </p:pic>
    </p:spTree>
    <p:extLst>
      <p:ext uri="{BB962C8B-B14F-4D97-AF65-F5344CB8AC3E}">
        <p14:creationId xmlns:p14="http://schemas.microsoft.com/office/powerpoint/2010/main" val="1770859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1798224" y="530221"/>
            <a:ext cx="8595550"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Operators Precedence</a:t>
            </a:r>
          </a:p>
        </p:txBody>
      </p:sp>
      <p:sp>
        <p:nvSpPr>
          <p:cNvPr id="6" name="TextBox 5">
            <a:extLst>
              <a:ext uri="{FF2B5EF4-FFF2-40B4-BE49-F238E27FC236}">
                <a16:creationId xmlns:a16="http://schemas.microsoft.com/office/drawing/2014/main" id="{2D9C5F0D-80BF-4406-A5B6-CEABD0C0BA7A}"/>
              </a:ext>
            </a:extLst>
          </p:cNvPr>
          <p:cNvSpPr txBox="1"/>
          <p:nvPr/>
        </p:nvSpPr>
        <p:spPr>
          <a:xfrm>
            <a:off x="933090" y="1453551"/>
            <a:ext cx="10325817" cy="3416320"/>
          </a:xfrm>
          <a:prstGeom prst="rect">
            <a:avLst/>
          </a:prstGeom>
          <a:noFill/>
        </p:spPr>
        <p:txBody>
          <a:bodyPr wrap="square" rtlCol="0">
            <a:spAutoFit/>
          </a:bodyPr>
          <a:lstStyle/>
          <a:p>
            <a:pPr algn="just">
              <a:buClr>
                <a:srgbClr val="0070C0"/>
              </a:buClr>
            </a:pPr>
            <a:r>
              <a:rPr lang="en-US" sz="2400" dirty="0">
                <a:solidFill>
                  <a:schemeClr val="bg1"/>
                </a:solidFill>
              </a:rPr>
              <a:t>When we combine multiple operators in a single query, SQL evaluates them in a specific order:</a:t>
            </a:r>
          </a:p>
          <a:p>
            <a:pPr algn="just">
              <a:buClr>
                <a:srgbClr val="0070C0"/>
              </a:buClr>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chemeClr val="bg1"/>
                </a:solidFill>
              </a:rPr>
              <a:t>Parentheses () (Highest priority, forces evaluation order)</a:t>
            </a:r>
          </a:p>
          <a:p>
            <a:pPr marL="800100" lvl="1" indent="-342900" algn="just">
              <a:buClr>
                <a:srgbClr val="0070C0"/>
              </a:buClr>
              <a:buFont typeface="Wingdings" panose="05000000000000000000" pitchFamily="2" charset="2"/>
              <a:buChar char="Ø"/>
            </a:pPr>
            <a:r>
              <a:rPr lang="en-US" sz="2400" dirty="0">
                <a:solidFill>
                  <a:schemeClr val="bg1"/>
                </a:solidFill>
              </a:rPr>
              <a:t>Multiplication/Division (*, /), then Addition/Subtraction (+, -)</a:t>
            </a:r>
          </a:p>
          <a:p>
            <a:pPr marL="800100" lvl="1" indent="-342900" algn="just">
              <a:buClr>
                <a:srgbClr val="0070C0"/>
              </a:buClr>
              <a:buFont typeface="Wingdings" panose="05000000000000000000" pitchFamily="2" charset="2"/>
              <a:buChar char="Ø"/>
            </a:pPr>
            <a:r>
              <a:rPr lang="en-US" sz="2400" dirty="0">
                <a:solidFill>
                  <a:schemeClr val="bg1"/>
                </a:solidFill>
              </a:rPr>
              <a:t>Comparison operators (=, &gt;, &lt;, etc.)</a:t>
            </a:r>
          </a:p>
          <a:p>
            <a:pPr marL="800100" lvl="1" indent="-342900" algn="just">
              <a:buClr>
                <a:srgbClr val="0070C0"/>
              </a:buClr>
              <a:buFont typeface="Wingdings" panose="05000000000000000000" pitchFamily="2" charset="2"/>
              <a:buChar char="Ø"/>
            </a:pPr>
            <a:r>
              <a:rPr lang="en-US" sz="2400" dirty="0">
                <a:solidFill>
                  <a:schemeClr val="bg1"/>
                </a:solidFill>
              </a:rPr>
              <a:t>NOT</a:t>
            </a:r>
          </a:p>
          <a:p>
            <a:pPr marL="800100" lvl="1" indent="-342900" algn="just">
              <a:buClr>
                <a:srgbClr val="0070C0"/>
              </a:buClr>
              <a:buFont typeface="Wingdings" panose="05000000000000000000" pitchFamily="2" charset="2"/>
              <a:buChar char="Ø"/>
            </a:pPr>
            <a:r>
              <a:rPr lang="en-US" sz="2400" dirty="0">
                <a:solidFill>
                  <a:schemeClr val="bg1"/>
                </a:solidFill>
              </a:rPr>
              <a:t>AND</a:t>
            </a:r>
          </a:p>
          <a:p>
            <a:pPr marL="800100" lvl="1" indent="-342900" algn="just">
              <a:buClr>
                <a:srgbClr val="0070C0"/>
              </a:buClr>
              <a:buFont typeface="Wingdings" panose="05000000000000000000" pitchFamily="2" charset="2"/>
              <a:buChar char="Ø"/>
            </a:pPr>
            <a:r>
              <a:rPr lang="en-US" sz="2400" dirty="0">
                <a:solidFill>
                  <a:schemeClr val="bg1"/>
                </a:solidFill>
              </a:rPr>
              <a:t>OR (Lowest priority)</a:t>
            </a:r>
          </a:p>
        </p:txBody>
      </p:sp>
    </p:spTree>
    <p:extLst>
      <p:ext uri="{BB962C8B-B14F-4D97-AF65-F5344CB8AC3E}">
        <p14:creationId xmlns:p14="http://schemas.microsoft.com/office/powerpoint/2010/main" val="787536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1798224" y="530221"/>
            <a:ext cx="8595550"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2D9C5F0D-80BF-4406-A5B6-CEABD0C0BA7A}"/>
              </a:ext>
            </a:extLst>
          </p:cNvPr>
          <p:cNvSpPr txBox="1"/>
          <p:nvPr/>
        </p:nvSpPr>
        <p:spPr>
          <a:xfrm>
            <a:off x="933090" y="2459504"/>
            <a:ext cx="10325817" cy="1938992"/>
          </a:xfrm>
          <a:prstGeom prst="rect">
            <a:avLst/>
          </a:prstGeom>
          <a:noFill/>
        </p:spPr>
        <p:txBody>
          <a:bodyPr wrap="square" rtlCol="0">
            <a:spAutoFit/>
          </a:bodyPr>
          <a:lstStyle/>
          <a:p>
            <a:pPr algn="just">
              <a:buClr>
                <a:srgbClr val="0070C0"/>
              </a:buClr>
            </a:pPr>
            <a:r>
              <a:rPr lang="en-US" sz="2400" dirty="0">
                <a:solidFill>
                  <a:schemeClr val="bg1"/>
                </a:solidFill>
              </a:rPr>
              <a:t>An SQL View is a virtual table generated from the result of a pre-defined SQL </a:t>
            </a:r>
            <a:r>
              <a:rPr lang="en-US" sz="2400" dirty="0">
                <a:solidFill>
                  <a:srgbClr val="92D050"/>
                </a:solidFill>
              </a:rPr>
              <a:t>SELECT</a:t>
            </a:r>
            <a:r>
              <a:rPr lang="en-US" sz="2400" dirty="0">
                <a:solidFill>
                  <a:schemeClr val="bg1"/>
                </a:solidFill>
              </a:rPr>
              <a:t> query. Unlike a standard database table, a standard view does not store data physically on the disk. Instead, it acts as a </a:t>
            </a:r>
            <a:r>
              <a:rPr lang="en-US" sz="2400" dirty="0">
                <a:solidFill>
                  <a:srgbClr val="92D050"/>
                </a:solidFill>
              </a:rPr>
              <a:t>dynamic blueprint </a:t>
            </a:r>
            <a:r>
              <a:rPr lang="en-US" sz="2400" dirty="0">
                <a:solidFill>
                  <a:schemeClr val="bg1"/>
                </a:solidFill>
              </a:rPr>
              <a:t>or </a:t>
            </a:r>
            <a:r>
              <a:rPr lang="en-US" sz="2400" dirty="0">
                <a:solidFill>
                  <a:srgbClr val="92D050"/>
                </a:solidFill>
              </a:rPr>
              <a:t>shortcut</a:t>
            </a:r>
            <a:r>
              <a:rPr lang="en-US" sz="2400" dirty="0">
                <a:solidFill>
                  <a:schemeClr val="bg1"/>
                </a:solidFill>
              </a:rPr>
              <a:t>: every time you query the view, the database engine runs the underlying query in the background and presents the up-to-date data as if it were a real table.</a:t>
            </a:r>
          </a:p>
        </p:txBody>
      </p:sp>
    </p:spTree>
    <p:extLst>
      <p:ext uri="{BB962C8B-B14F-4D97-AF65-F5344CB8AC3E}">
        <p14:creationId xmlns:p14="http://schemas.microsoft.com/office/powerpoint/2010/main" val="588305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1200329"/>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Creating a View</a:t>
            </a:r>
          </a:p>
          <a:p>
            <a:pPr algn="just">
              <a:buClr>
                <a:srgbClr val="0070C0"/>
              </a:buClr>
            </a:pPr>
            <a:r>
              <a:rPr lang="en-US" sz="2400" b="0" i="0" dirty="0">
                <a:solidFill>
                  <a:srgbClr val="DDDDDD"/>
                </a:solidFill>
                <a:effectLst/>
                <a:latin typeface="-apple-system"/>
              </a:rPr>
              <a:t>A view can be created using the CREATE VIEW statement. We can create a view from a single table or multiple tables.</a:t>
            </a:r>
            <a:endParaRPr lang="en-US" sz="2400" dirty="0">
              <a:solidFill>
                <a:srgbClr val="FFC000"/>
              </a:solidFill>
            </a:endParaRPr>
          </a:p>
        </p:txBody>
      </p:sp>
      <p:pic>
        <p:nvPicPr>
          <p:cNvPr id="12" name="Picture 11">
            <a:extLst>
              <a:ext uri="{FF2B5EF4-FFF2-40B4-BE49-F238E27FC236}">
                <a16:creationId xmlns:a16="http://schemas.microsoft.com/office/drawing/2014/main" id="{F1DE3EEF-7727-4005-A36B-46806B59DF9B}"/>
              </a:ext>
            </a:extLst>
          </p:cNvPr>
          <p:cNvPicPr>
            <a:picLocks noChangeAspect="1"/>
          </p:cNvPicPr>
          <p:nvPr/>
        </p:nvPicPr>
        <p:blipFill>
          <a:blip r:embed="rId2"/>
          <a:stretch>
            <a:fillRect/>
          </a:stretch>
        </p:blipFill>
        <p:spPr>
          <a:xfrm>
            <a:off x="2934245" y="3423387"/>
            <a:ext cx="6323508" cy="1561467"/>
          </a:xfrm>
          <a:prstGeom prst="rect">
            <a:avLst/>
          </a:prstGeom>
        </p:spPr>
      </p:pic>
    </p:spTree>
    <p:extLst>
      <p:ext uri="{BB962C8B-B14F-4D97-AF65-F5344CB8AC3E}">
        <p14:creationId xmlns:p14="http://schemas.microsoft.com/office/powerpoint/2010/main" val="35260740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sp>
        <p:nvSpPr>
          <p:cNvPr id="6" name="TextBox 5">
            <a:extLst>
              <a:ext uri="{FF2B5EF4-FFF2-40B4-BE49-F238E27FC236}">
                <a16:creationId xmlns:a16="http://schemas.microsoft.com/office/drawing/2014/main" id="{2D9C5F0D-80BF-4406-A5B6-CEABD0C0BA7A}"/>
              </a:ext>
            </a:extLst>
          </p:cNvPr>
          <p:cNvSpPr txBox="1"/>
          <p:nvPr/>
        </p:nvSpPr>
        <p:spPr>
          <a:xfrm>
            <a:off x="933091" y="1453551"/>
            <a:ext cx="10325817" cy="4154984"/>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Creating a View from multiple tables</a:t>
            </a:r>
          </a:p>
          <a:p>
            <a:pPr algn="just">
              <a:buClr>
                <a:srgbClr val="0070C0"/>
              </a:buClr>
            </a:pPr>
            <a:r>
              <a:rPr lang="en-US" sz="2400" b="0" i="0" dirty="0">
                <a:solidFill>
                  <a:srgbClr val="DDDDDD"/>
                </a:solidFill>
                <a:effectLst/>
                <a:latin typeface="-apple-system"/>
              </a:rPr>
              <a:t>Creating a view from multiple tables is one of the most powerful use cases for views. It allows you to pre-define complex </a:t>
            </a:r>
            <a:r>
              <a:rPr lang="en-US" sz="2400" b="0" i="0" dirty="0">
                <a:solidFill>
                  <a:srgbClr val="92D050"/>
                </a:solidFill>
                <a:effectLst/>
                <a:latin typeface="-apple-system"/>
              </a:rPr>
              <a:t>JOIN</a:t>
            </a:r>
            <a:r>
              <a:rPr lang="en-US" sz="2400" b="0" i="0" dirty="0">
                <a:solidFill>
                  <a:srgbClr val="DDDDDD"/>
                </a:solidFill>
                <a:effectLst/>
                <a:latin typeface="-apple-system"/>
              </a:rPr>
              <a:t> queries, transforming scattered data across your database into a single, clean virtual table.</a:t>
            </a:r>
          </a:p>
          <a:p>
            <a:pPr algn="just">
              <a:buClr>
                <a:srgbClr val="0070C0"/>
              </a:buClr>
            </a:pPr>
            <a:endParaRPr lang="en-US" sz="2400" dirty="0">
              <a:solidFill>
                <a:srgbClr val="DDDDDD"/>
              </a:solidFill>
              <a:latin typeface="-apple-system"/>
            </a:endParaRPr>
          </a:p>
          <a:p>
            <a:pPr marL="342900" indent="-342900" algn="just">
              <a:buClr>
                <a:srgbClr val="0070C0"/>
              </a:buClr>
              <a:buFont typeface="Calibri" panose="020F0502020204030204" pitchFamily="34" charset="0"/>
              <a:buChar char="●"/>
            </a:pPr>
            <a:r>
              <a:rPr lang="en-US" sz="2400" dirty="0">
                <a:solidFill>
                  <a:srgbClr val="92D050"/>
                </a:solidFill>
              </a:rPr>
              <a:t>Practical Example: E-Commerce Orders</a:t>
            </a:r>
          </a:p>
          <a:p>
            <a:pPr algn="just">
              <a:buClr>
                <a:srgbClr val="0070C0"/>
              </a:buClr>
            </a:pPr>
            <a:r>
              <a:rPr lang="en-US" sz="2400" dirty="0">
                <a:solidFill>
                  <a:schemeClr val="bg1"/>
                </a:solidFill>
              </a:rPr>
              <a:t>Imagine you have </a:t>
            </a:r>
            <a:r>
              <a:rPr lang="en-US" sz="2400" dirty="0">
                <a:solidFill>
                  <a:schemeClr val="accent2"/>
                </a:solidFill>
              </a:rPr>
              <a:t>three separate tables </a:t>
            </a:r>
            <a:r>
              <a:rPr lang="en-US" sz="2400" dirty="0">
                <a:solidFill>
                  <a:schemeClr val="bg1"/>
                </a:solidFill>
              </a:rPr>
              <a:t>in an online store database:</a:t>
            </a:r>
          </a:p>
          <a:p>
            <a:pPr algn="just">
              <a:buClr>
                <a:srgbClr val="0070C0"/>
              </a:buClr>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Customers</a:t>
            </a:r>
            <a:r>
              <a:rPr lang="en-US" sz="2400" dirty="0">
                <a:solidFill>
                  <a:schemeClr val="bg1"/>
                </a:solidFill>
              </a:rPr>
              <a:t>: Stores customer profiles.</a:t>
            </a:r>
          </a:p>
          <a:p>
            <a:pPr marL="800100" lvl="1" indent="-342900" algn="just">
              <a:buClr>
                <a:srgbClr val="0070C0"/>
              </a:buClr>
              <a:buFont typeface="Wingdings" panose="05000000000000000000" pitchFamily="2" charset="2"/>
              <a:buChar char="Ø"/>
            </a:pPr>
            <a:r>
              <a:rPr lang="en-US" sz="2400" dirty="0">
                <a:solidFill>
                  <a:srgbClr val="FFC000"/>
                </a:solidFill>
              </a:rPr>
              <a:t>Orders</a:t>
            </a:r>
            <a:r>
              <a:rPr lang="en-US" sz="2400" dirty="0">
                <a:solidFill>
                  <a:schemeClr val="bg1"/>
                </a:solidFill>
              </a:rPr>
              <a:t>: Stores order metadata (dates, statuses).</a:t>
            </a:r>
          </a:p>
          <a:p>
            <a:pPr marL="800100" lvl="1" indent="-342900" algn="just">
              <a:buClr>
                <a:srgbClr val="0070C0"/>
              </a:buClr>
              <a:buFont typeface="Wingdings" panose="05000000000000000000" pitchFamily="2" charset="2"/>
              <a:buChar char="Ø"/>
            </a:pPr>
            <a:r>
              <a:rPr lang="en-US" sz="2400" dirty="0">
                <a:solidFill>
                  <a:srgbClr val="FFC000"/>
                </a:solidFill>
              </a:rPr>
              <a:t>Products</a:t>
            </a:r>
            <a:r>
              <a:rPr lang="en-US" sz="2400" dirty="0">
                <a:solidFill>
                  <a:schemeClr val="bg1"/>
                </a:solidFill>
              </a:rPr>
              <a:t>: Stores product details.</a:t>
            </a:r>
          </a:p>
        </p:txBody>
      </p:sp>
    </p:spTree>
    <p:extLst>
      <p:ext uri="{BB962C8B-B14F-4D97-AF65-F5344CB8AC3E}">
        <p14:creationId xmlns:p14="http://schemas.microsoft.com/office/powerpoint/2010/main" val="4077862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pic>
        <p:nvPicPr>
          <p:cNvPr id="3" name="Picture 2">
            <a:extLst>
              <a:ext uri="{FF2B5EF4-FFF2-40B4-BE49-F238E27FC236}">
                <a16:creationId xmlns:a16="http://schemas.microsoft.com/office/drawing/2014/main" id="{47E6DF25-21A9-45DD-B764-3BD95C25053E}"/>
              </a:ext>
            </a:extLst>
          </p:cNvPr>
          <p:cNvPicPr>
            <a:picLocks noChangeAspect="1"/>
          </p:cNvPicPr>
          <p:nvPr/>
        </p:nvPicPr>
        <p:blipFill>
          <a:blip r:embed="rId2"/>
          <a:stretch>
            <a:fillRect/>
          </a:stretch>
        </p:blipFill>
        <p:spPr>
          <a:xfrm>
            <a:off x="2925618" y="1463641"/>
            <a:ext cx="6340762" cy="3364486"/>
          </a:xfrm>
          <a:prstGeom prst="rect">
            <a:avLst/>
          </a:prstGeom>
        </p:spPr>
      </p:pic>
      <p:pic>
        <p:nvPicPr>
          <p:cNvPr id="7" name="Picture 6">
            <a:extLst>
              <a:ext uri="{FF2B5EF4-FFF2-40B4-BE49-F238E27FC236}">
                <a16:creationId xmlns:a16="http://schemas.microsoft.com/office/drawing/2014/main" id="{092B4EFB-27F7-4313-B862-88E3519AF3A6}"/>
              </a:ext>
            </a:extLst>
          </p:cNvPr>
          <p:cNvPicPr>
            <a:picLocks noChangeAspect="1"/>
          </p:cNvPicPr>
          <p:nvPr/>
        </p:nvPicPr>
        <p:blipFill>
          <a:blip r:embed="rId3"/>
          <a:stretch>
            <a:fillRect/>
          </a:stretch>
        </p:blipFill>
        <p:spPr>
          <a:xfrm>
            <a:off x="1679033" y="5013858"/>
            <a:ext cx="8833932" cy="1475198"/>
          </a:xfrm>
          <a:prstGeom prst="rect">
            <a:avLst/>
          </a:prstGeom>
        </p:spPr>
      </p:pic>
    </p:spTree>
    <p:extLst>
      <p:ext uri="{BB962C8B-B14F-4D97-AF65-F5344CB8AC3E}">
        <p14:creationId xmlns:p14="http://schemas.microsoft.com/office/powerpoint/2010/main" val="40728175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322E85E5-3D48-449C-863D-EC920AA4EFAA}"/>
              </a:ext>
            </a:extLst>
          </p:cNvPr>
          <p:cNvSpPr txBox="1"/>
          <p:nvPr/>
        </p:nvSpPr>
        <p:spPr>
          <a:xfrm>
            <a:off x="933091" y="1453551"/>
            <a:ext cx="10325817" cy="4893647"/>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Key Advantages for Multi-Table Views</a:t>
            </a:r>
          </a:p>
          <a:p>
            <a:pPr marL="800100" lvl="1" indent="-342900" algn="just">
              <a:buClr>
                <a:srgbClr val="0070C0"/>
              </a:buClr>
              <a:buFont typeface="Wingdings" panose="05000000000000000000" pitchFamily="2" charset="2"/>
              <a:buChar char="Ø"/>
            </a:pPr>
            <a:r>
              <a:rPr lang="en-US" sz="2400" dirty="0">
                <a:solidFill>
                  <a:srgbClr val="FFC000"/>
                </a:solidFill>
              </a:rPr>
              <a:t>Hides Schema Complexity</a:t>
            </a:r>
            <a:r>
              <a:rPr lang="en-US" sz="2400" dirty="0">
                <a:solidFill>
                  <a:schemeClr val="bg1"/>
                </a:solidFill>
              </a:rPr>
              <a:t>: Database structures change. If you split the Products table into two tables later on, you only need to update the view's internal JOIN definition. Any application or user querying </a:t>
            </a:r>
            <a:r>
              <a:rPr lang="en-US" sz="2400" dirty="0" err="1">
                <a:solidFill>
                  <a:schemeClr val="bg1"/>
                </a:solidFill>
              </a:rPr>
              <a:t>OrderSummary</a:t>
            </a:r>
            <a:r>
              <a:rPr lang="en-US" sz="2400" dirty="0">
                <a:solidFill>
                  <a:schemeClr val="bg1"/>
                </a:solidFill>
              </a:rPr>
              <a:t> won't notice a difference, preventing breaking changes.</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Simplifies Reporting</a:t>
            </a:r>
            <a:r>
              <a:rPr lang="en-US" sz="2400" dirty="0">
                <a:solidFill>
                  <a:schemeClr val="bg1"/>
                </a:solidFill>
              </a:rPr>
              <a:t>: Analysts and business teams who don't know how to write complex SQL joins can easily extract data using standard SELECT * FROM </a:t>
            </a:r>
            <a:r>
              <a:rPr lang="en-US" sz="2400" dirty="0" err="1">
                <a:solidFill>
                  <a:schemeClr val="bg1"/>
                </a:solidFill>
              </a:rPr>
              <a:t>OrderSummary</a:t>
            </a:r>
            <a:r>
              <a:rPr lang="en-US" sz="2400" dirty="0">
                <a:solidFill>
                  <a:schemeClr val="bg1"/>
                </a:solidFill>
              </a:rPr>
              <a:t> WHERE Price &gt; 50; queries.</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Aggregated Views</a:t>
            </a:r>
            <a:r>
              <a:rPr lang="en-US" sz="2400" dirty="0">
                <a:solidFill>
                  <a:schemeClr val="bg1"/>
                </a:solidFill>
              </a:rPr>
              <a:t>: You can easily mix joins with grouping functions (like SUM or COUNT) to create high-level dashboards, such as a </a:t>
            </a:r>
            <a:r>
              <a:rPr lang="en-US" sz="2400" dirty="0" err="1">
                <a:solidFill>
                  <a:schemeClr val="bg1"/>
                </a:solidFill>
              </a:rPr>
              <a:t>CustomerLifetimeValue</a:t>
            </a:r>
            <a:r>
              <a:rPr lang="en-US" sz="2400" dirty="0">
                <a:solidFill>
                  <a:schemeClr val="bg1"/>
                </a:solidFill>
              </a:rPr>
              <a:t> view.</a:t>
            </a:r>
          </a:p>
        </p:txBody>
      </p:sp>
    </p:spTree>
    <p:extLst>
      <p:ext uri="{BB962C8B-B14F-4D97-AF65-F5344CB8AC3E}">
        <p14:creationId xmlns:p14="http://schemas.microsoft.com/office/powerpoint/2010/main" val="2851117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rgbClr val="FFFF00"/>
                </a:solidFill>
                <a:latin typeface="Roboto ExtraBold" panose="02000000000000000000" pitchFamily="2" charset="0"/>
                <a:ea typeface="Roboto ExtraBold" panose="02000000000000000000" pitchFamily="2" charset="0"/>
              </a:rPr>
              <a:t> </a:t>
            </a:r>
            <a:r>
              <a:rPr lang="en-US" sz="5400" dirty="0">
                <a:solidFill>
                  <a:schemeClr val="bg1"/>
                </a:solidFill>
                <a:latin typeface="Roboto ExtraBold" panose="02000000000000000000" pitchFamily="2" charset="0"/>
                <a:ea typeface="Roboto ExtraBold" panose="02000000000000000000" pitchFamily="2" charset="0"/>
              </a:rPr>
              <a:t>in</a:t>
            </a:r>
            <a:r>
              <a:rPr lang="en-US" sz="5400" dirty="0">
                <a:solidFill>
                  <a:srgbClr val="FFFF00"/>
                </a:solidFill>
                <a:latin typeface="Roboto ExtraBold" panose="02000000000000000000" pitchFamily="2" charset="0"/>
                <a:ea typeface="Roboto ExtraBold" panose="02000000000000000000" pitchFamily="2" charset="0"/>
              </a:rPr>
              <a:t> SQL</a:t>
            </a:r>
            <a:endParaRPr lang="en-US" sz="5400" dirty="0">
              <a:solidFill>
                <a:srgbClr val="FF00FF"/>
              </a:solidFill>
              <a:latin typeface="Roboto ExtraBold" panose="02000000000000000000" pitchFamily="2" charset="0"/>
              <a:ea typeface="Roboto ExtraBold" panose="02000000000000000000" pitchFamily="2" charset="0"/>
            </a:endParaRPr>
          </a:p>
        </p:txBody>
      </p:sp>
      <p:sp>
        <p:nvSpPr>
          <p:cNvPr id="5" name="TextBox 4">
            <a:extLst>
              <a:ext uri="{FF2B5EF4-FFF2-40B4-BE49-F238E27FC236}">
                <a16:creationId xmlns:a16="http://schemas.microsoft.com/office/drawing/2014/main" id="{322E85E5-3D48-449C-863D-EC920AA4EFAA}"/>
              </a:ext>
            </a:extLst>
          </p:cNvPr>
          <p:cNvSpPr txBox="1"/>
          <p:nvPr/>
        </p:nvSpPr>
        <p:spPr>
          <a:xfrm>
            <a:off x="933090" y="2459504"/>
            <a:ext cx="10325817" cy="1938992"/>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00"/>
                </a:solidFill>
              </a:rPr>
              <a:t>Crucial Rule for Multi-Table Views</a:t>
            </a:r>
          </a:p>
          <a:p>
            <a:pPr algn="just">
              <a:buClr>
                <a:srgbClr val="0070C0"/>
              </a:buClr>
            </a:pPr>
            <a:r>
              <a:rPr lang="en-US" sz="2400" dirty="0">
                <a:solidFill>
                  <a:schemeClr val="bg1"/>
                </a:solidFill>
              </a:rPr>
              <a:t>While you can freely read data from a multi-table view, you generally cannot update, insert, or delete rows through it. Databases typically </a:t>
            </a:r>
            <a:r>
              <a:rPr lang="en-US" sz="2400" dirty="0">
                <a:solidFill>
                  <a:srgbClr val="92D050"/>
                </a:solidFill>
              </a:rPr>
              <a:t>restrict write operations on views </a:t>
            </a:r>
            <a:r>
              <a:rPr lang="en-US" sz="2400" dirty="0">
                <a:solidFill>
                  <a:schemeClr val="bg1"/>
                </a:solidFill>
              </a:rPr>
              <a:t>that involve JOIN, GROUP BY, or DISTINCT because the engine cannot definitively trace which underlying table should receive the modifications.</a:t>
            </a:r>
          </a:p>
        </p:txBody>
      </p:sp>
    </p:spTree>
    <p:extLst>
      <p:ext uri="{BB962C8B-B14F-4D97-AF65-F5344CB8AC3E}">
        <p14:creationId xmlns:p14="http://schemas.microsoft.com/office/powerpoint/2010/main" val="2809038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chemeClr val="bg1"/>
                </a:solidFill>
                <a:latin typeface="Roboto ExtraBold" panose="02000000000000000000" pitchFamily="2" charset="0"/>
                <a:ea typeface="Roboto ExtraBold" panose="02000000000000000000" pitchFamily="2" charset="0"/>
              </a:rPr>
              <a:t>Why Use </a:t>
            </a:r>
            <a:r>
              <a:rPr lang="en-US" sz="5400" dirty="0">
                <a:solidFill>
                  <a:srgbClr val="FF00FF"/>
                </a:solidFill>
                <a:latin typeface="Roboto ExtraBold" panose="02000000000000000000" pitchFamily="2" charset="0"/>
                <a:ea typeface="Roboto ExtraBold" panose="02000000000000000000" pitchFamily="2" charset="0"/>
              </a:rPr>
              <a:t>Views</a:t>
            </a:r>
            <a:r>
              <a:rPr lang="en-US" sz="5400" dirty="0">
                <a:solidFill>
                  <a:schemeClr val="bg1"/>
                </a:solidFill>
                <a:latin typeface="Roboto ExtraBold" panose="02000000000000000000" pitchFamily="2" charset="0"/>
                <a:ea typeface="Roboto ExtraBold" panose="02000000000000000000" pitchFamily="2" charset="0"/>
              </a:rPr>
              <a:t>?</a:t>
            </a:r>
          </a:p>
        </p:txBody>
      </p:sp>
      <p:sp>
        <p:nvSpPr>
          <p:cNvPr id="6" name="TextBox 5">
            <a:extLst>
              <a:ext uri="{FF2B5EF4-FFF2-40B4-BE49-F238E27FC236}">
                <a16:creationId xmlns:a16="http://schemas.microsoft.com/office/drawing/2014/main" id="{2D9C5F0D-80BF-4406-A5B6-CEABD0C0BA7A}"/>
              </a:ext>
            </a:extLst>
          </p:cNvPr>
          <p:cNvSpPr txBox="1"/>
          <p:nvPr/>
        </p:nvSpPr>
        <p:spPr>
          <a:xfrm>
            <a:off x="632963" y="1463641"/>
            <a:ext cx="10926072" cy="4893647"/>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C000"/>
                </a:solidFill>
              </a:rPr>
              <a:t>Data Security</a:t>
            </a:r>
            <a:r>
              <a:rPr lang="en-US" sz="2400" dirty="0">
                <a:solidFill>
                  <a:schemeClr val="bg1"/>
                </a:solidFill>
              </a:rPr>
              <a:t>: Views let us restrict data access by hiding sensitive columns (like salaries or passwords) or specific rows from unauthorized users.</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rgbClr val="FFC000"/>
                </a:solidFill>
              </a:rPr>
              <a:t>Query Simplification</a:t>
            </a:r>
            <a:r>
              <a:rPr lang="en-US" sz="2400" dirty="0">
                <a:solidFill>
                  <a:schemeClr val="bg1"/>
                </a:solidFill>
              </a:rPr>
              <a:t>: Instead of writing massive, repetitive </a:t>
            </a:r>
            <a:r>
              <a:rPr lang="en-US" sz="2400" dirty="0">
                <a:solidFill>
                  <a:srgbClr val="92D050"/>
                </a:solidFill>
              </a:rPr>
              <a:t>JOIN</a:t>
            </a:r>
            <a:r>
              <a:rPr lang="en-US" sz="2400" dirty="0">
                <a:solidFill>
                  <a:schemeClr val="bg1"/>
                </a:solidFill>
              </a:rPr>
              <a:t> statements or complicated filters every day, we can save the query as a view and access it with one simple line.</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rgbClr val="FFC000"/>
                </a:solidFill>
              </a:rPr>
              <a:t>Consistency</a:t>
            </a:r>
            <a:r>
              <a:rPr lang="en-US" sz="2400" dirty="0">
                <a:solidFill>
                  <a:schemeClr val="bg1"/>
                </a:solidFill>
              </a:rPr>
              <a:t>: If multiple team members need the exact same dataset (e.g., "Active Users"), a view ensures everyone queries the exact same logical definition, reducing human error.</a:t>
            </a:r>
          </a:p>
          <a:p>
            <a:pPr marL="342900" indent="-342900" algn="just">
              <a:buClr>
                <a:srgbClr val="0070C0"/>
              </a:buClr>
              <a:buFont typeface="Calibri" panose="020F0502020204030204" pitchFamily="34" charset="0"/>
              <a:buChar char="●"/>
            </a:pPr>
            <a:endParaRPr lang="en-US" sz="2400" dirty="0">
              <a:solidFill>
                <a:schemeClr val="bg1"/>
              </a:solidFill>
            </a:endParaRPr>
          </a:p>
          <a:p>
            <a:pPr marL="342900" indent="-342900" algn="just">
              <a:buClr>
                <a:srgbClr val="0070C0"/>
              </a:buClr>
              <a:buFont typeface="Calibri" panose="020F0502020204030204" pitchFamily="34" charset="0"/>
              <a:buChar char="●"/>
            </a:pPr>
            <a:r>
              <a:rPr lang="en-US" sz="2400" dirty="0">
                <a:solidFill>
                  <a:srgbClr val="FFC000"/>
                </a:solidFill>
              </a:rPr>
              <a:t>Zero Storage Footprint</a:t>
            </a:r>
            <a:r>
              <a:rPr lang="en-US" sz="2400" dirty="0">
                <a:solidFill>
                  <a:schemeClr val="bg1"/>
                </a:solidFill>
              </a:rPr>
              <a:t>: Because standard views only store the text query definition and not the actual data rows, they take up virtually zero storage space.</a:t>
            </a:r>
          </a:p>
        </p:txBody>
      </p:sp>
    </p:spTree>
    <p:extLst>
      <p:ext uri="{BB962C8B-B14F-4D97-AF65-F5344CB8AC3E}">
        <p14:creationId xmlns:p14="http://schemas.microsoft.com/office/powerpoint/2010/main" val="14933134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Index</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536174"/>
            <a:ext cx="10926072" cy="3785652"/>
          </a:xfrm>
          <a:prstGeom prst="rect">
            <a:avLst/>
          </a:prstGeom>
          <a:noFill/>
        </p:spPr>
        <p:txBody>
          <a:bodyPr wrap="square" rtlCol="0">
            <a:spAutoFit/>
          </a:bodyPr>
          <a:lstStyle/>
          <a:p>
            <a:pPr algn="just">
              <a:buClr>
                <a:srgbClr val="0070C0"/>
              </a:buClr>
            </a:pPr>
            <a:r>
              <a:rPr lang="en-US" sz="2400" dirty="0">
                <a:solidFill>
                  <a:schemeClr val="bg1"/>
                </a:solidFill>
              </a:rPr>
              <a:t>An SQL Index is a powerful database optimization feature used to speed up data retrieval.</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Think of a database table like a massive, 1,000-page textbook. If you want to find a specific topic without an index, you have to read the book page by page from the beginning—this is called a Table Scan. </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An SQL Index works exactly like the index at the back of the textbook. It provides a sorted list of keywords along with pointers to the exact pages where they live, allowing the database engine to jump straight to the data you need (Index Seek).</a:t>
            </a:r>
          </a:p>
        </p:txBody>
      </p:sp>
      <p:pic>
        <p:nvPicPr>
          <p:cNvPr id="3" name="Picture 2">
            <a:extLst>
              <a:ext uri="{FF2B5EF4-FFF2-40B4-BE49-F238E27FC236}">
                <a16:creationId xmlns:a16="http://schemas.microsoft.com/office/drawing/2014/main" id="{C7149A9F-ACBA-401C-B0F2-57E0E698D1AD}"/>
              </a:ext>
            </a:extLst>
          </p:cNvPr>
          <p:cNvPicPr>
            <a:picLocks noChangeAspect="1"/>
          </p:cNvPicPr>
          <p:nvPr/>
        </p:nvPicPr>
        <p:blipFill>
          <a:blip r:embed="rId2"/>
          <a:stretch>
            <a:fillRect/>
          </a:stretch>
        </p:blipFill>
        <p:spPr>
          <a:xfrm>
            <a:off x="3050708" y="5641668"/>
            <a:ext cx="6090582" cy="250180"/>
          </a:xfrm>
          <a:prstGeom prst="rect">
            <a:avLst/>
          </a:prstGeom>
        </p:spPr>
      </p:pic>
    </p:spTree>
    <p:extLst>
      <p:ext uri="{BB962C8B-B14F-4D97-AF65-F5344CB8AC3E}">
        <p14:creationId xmlns:p14="http://schemas.microsoft.com/office/powerpoint/2010/main" val="39604978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Index</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893647"/>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Practical Example</a:t>
            </a:r>
          </a:p>
          <a:p>
            <a:pPr algn="just">
              <a:buClr>
                <a:srgbClr val="0070C0"/>
              </a:buClr>
            </a:pPr>
            <a:endParaRPr lang="en-US" sz="2400" dirty="0">
              <a:solidFill>
                <a:srgbClr val="FF00FF"/>
              </a:solidFill>
            </a:endParaRPr>
          </a:p>
          <a:p>
            <a:pPr algn="just">
              <a:buClr>
                <a:srgbClr val="0070C0"/>
              </a:buClr>
            </a:pPr>
            <a:r>
              <a:rPr lang="en-US" sz="2400" dirty="0">
                <a:solidFill>
                  <a:schemeClr val="bg1"/>
                </a:solidFill>
              </a:rPr>
              <a:t>Imagine a Users table containing millions of rows:</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If you frequently search for users by their email address, you run this query often:</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r>
              <a:rPr lang="en-US" sz="2400" dirty="0">
                <a:solidFill>
                  <a:srgbClr val="FF0000"/>
                </a:solidFill>
              </a:rPr>
              <a:t>Without an index, the database must look through every single row to find Sajid.</a:t>
            </a:r>
          </a:p>
          <a:p>
            <a:pPr algn="just">
              <a:buClr>
                <a:srgbClr val="0070C0"/>
              </a:buClr>
            </a:pPr>
            <a:endParaRPr lang="en-US" sz="2400" dirty="0">
              <a:solidFill>
                <a:schemeClr val="bg1"/>
              </a:solidFill>
            </a:endParaRPr>
          </a:p>
        </p:txBody>
      </p:sp>
      <p:pic>
        <p:nvPicPr>
          <p:cNvPr id="5" name="Picture 4">
            <a:extLst>
              <a:ext uri="{FF2B5EF4-FFF2-40B4-BE49-F238E27FC236}">
                <a16:creationId xmlns:a16="http://schemas.microsoft.com/office/drawing/2014/main" id="{26B32015-2C04-43BE-ABEB-DD7C3F276C2D}"/>
              </a:ext>
            </a:extLst>
          </p:cNvPr>
          <p:cNvPicPr>
            <a:picLocks noChangeAspect="1"/>
          </p:cNvPicPr>
          <p:nvPr/>
        </p:nvPicPr>
        <p:blipFill>
          <a:blip r:embed="rId2"/>
          <a:stretch>
            <a:fillRect/>
          </a:stretch>
        </p:blipFill>
        <p:spPr>
          <a:xfrm>
            <a:off x="3326767" y="2777670"/>
            <a:ext cx="5538461" cy="1302660"/>
          </a:xfrm>
          <a:prstGeom prst="rect">
            <a:avLst/>
          </a:prstGeom>
        </p:spPr>
      </p:pic>
      <p:pic>
        <p:nvPicPr>
          <p:cNvPr id="7" name="Picture 6">
            <a:extLst>
              <a:ext uri="{FF2B5EF4-FFF2-40B4-BE49-F238E27FC236}">
                <a16:creationId xmlns:a16="http://schemas.microsoft.com/office/drawing/2014/main" id="{C38CD965-B901-46BE-809F-F746C9921264}"/>
              </a:ext>
            </a:extLst>
          </p:cNvPr>
          <p:cNvPicPr>
            <a:picLocks noChangeAspect="1"/>
          </p:cNvPicPr>
          <p:nvPr/>
        </p:nvPicPr>
        <p:blipFill>
          <a:blip r:embed="rId3"/>
          <a:stretch>
            <a:fillRect/>
          </a:stretch>
        </p:blipFill>
        <p:spPr>
          <a:xfrm>
            <a:off x="2964438" y="5003660"/>
            <a:ext cx="6263120" cy="250180"/>
          </a:xfrm>
          <a:prstGeom prst="rect">
            <a:avLst/>
          </a:prstGeom>
        </p:spPr>
      </p:pic>
    </p:spTree>
    <p:extLst>
      <p:ext uri="{BB962C8B-B14F-4D97-AF65-F5344CB8AC3E}">
        <p14:creationId xmlns:p14="http://schemas.microsoft.com/office/powerpoint/2010/main" val="13517926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Index</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524315"/>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Creating the Index</a:t>
            </a:r>
          </a:p>
          <a:p>
            <a:pPr marL="342900" indent="-342900" algn="just">
              <a:buClr>
                <a:srgbClr val="0070C0"/>
              </a:buClr>
              <a:buFont typeface="Calibri" panose="020F0502020204030204" pitchFamily="34" charset="0"/>
              <a:buChar char="●"/>
            </a:pPr>
            <a:endParaRPr lang="en-US" sz="2400" dirty="0">
              <a:solidFill>
                <a:srgbClr val="FF00FF"/>
              </a:solidFill>
            </a:endParaRPr>
          </a:p>
          <a:p>
            <a:pPr algn="just">
              <a:buClr>
                <a:srgbClr val="0070C0"/>
              </a:buClr>
            </a:pPr>
            <a:r>
              <a:rPr lang="en-US" sz="2400" dirty="0">
                <a:solidFill>
                  <a:schemeClr val="bg1"/>
                </a:solidFill>
              </a:rPr>
              <a:t>To speed this up, you create an index on the Email column:</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a:p>
            <a:pPr algn="just">
              <a:buClr>
                <a:srgbClr val="0070C0"/>
              </a:buClr>
            </a:pPr>
            <a:endParaRPr lang="en-US" sz="2400" dirty="0">
              <a:solidFill>
                <a:srgbClr val="FFC000"/>
              </a:solidFill>
            </a:endParaRPr>
          </a:p>
          <a:p>
            <a:pPr marL="342900" indent="-342900" algn="just">
              <a:buClr>
                <a:srgbClr val="0070C0"/>
              </a:buClr>
              <a:buFont typeface="Calibri" panose="020F0502020204030204" pitchFamily="34" charset="0"/>
              <a:buChar char="●"/>
            </a:pPr>
            <a:r>
              <a:rPr lang="en-US" sz="2400" dirty="0">
                <a:solidFill>
                  <a:srgbClr val="FFC000"/>
                </a:solidFill>
              </a:rPr>
              <a:t>How the Database Uses It?</a:t>
            </a:r>
          </a:p>
          <a:p>
            <a:pPr algn="just">
              <a:buClr>
                <a:srgbClr val="0070C0"/>
              </a:buClr>
            </a:pPr>
            <a:r>
              <a:rPr lang="en-US" sz="2400" dirty="0">
                <a:solidFill>
                  <a:schemeClr val="bg1"/>
                </a:solidFill>
              </a:rPr>
              <a:t>Behind the scenes, the database builds a hidden, highly organized structure (usually a B-Tree) containing just the emails and pointers to their physical rows. The next time you search for Sajid’s email, the engine searches the small index first, finds the pointer, and instantly grabs his row.</a:t>
            </a:r>
          </a:p>
          <a:p>
            <a:pPr algn="just">
              <a:buClr>
                <a:srgbClr val="0070C0"/>
              </a:buClr>
            </a:pPr>
            <a:endParaRPr lang="en-US" sz="2400" dirty="0">
              <a:solidFill>
                <a:schemeClr val="bg1"/>
              </a:solidFill>
            </a:endParaRPr>
          </a:p>
        </p:txBody>
      </p:sp>
      <p:pic>
        <p:nvPicPr>
          <p:cNvPr id="3" name="Picture 2">
            <a:extLst>
              <a:ext uri="{FF2B5EF4-FFF2-40B4-BE49-F238E27FC236}">
                <a16:creationId xmlns:a16="http://schemas.microsoft.com/office/drawing/2014/main" id="{8AE52546-5F4E-4C4E-BC97-D5A38A7A517D}"/>
              </a:ext>
            </a:extLst>
          </p:cNvPr>
          <p:cNvPicPr>
            <a:picLocks noChangeAspect="1"/>
          </p:cNvPicPr>
          <p:nvPr/>
        </p:nvPicPr>
        <p:blipFill>
          <a:blip r:embed="rId2"/>
          <a:stretch>
            <a:fillRect/>
          </a:stretch>
        </p:blipFill>
        <p:spPr>
          <a:xfrm>
            <a:off x="3477738" y="2871321"/>
            <a:ext cx="5236520" cy="241553"/>
          </a:xfrm>
          <a:prstGeom prst="rect">
            <a:avLst/>
          </a:prstGeom>
        </p:spPr>
      </p:pic>
    </p:spTree>
    <p:extLst>
      <p:ext uri="{BB962C8B-B14F-4D97-AF65-F5344CB8AC3E}">
        <p14:creationId xmlns:p14="http://schemas.microsoft.com/office/powerpoint/2010/main" val="1238987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Index</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1200329"/>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Clustered vs. Non-Clustered Indexes</a:t>
            </a:r>
          </a:p>
          <a:p>
            <a:pPr algn="just">
              <a:buClr>
                <a:srgbClr val="0070C0"/>
              </a:buClr>
            </a:pPr>
            <a:endParaRPr lang="en-US" sz="2400" dirty="0">
              <a:solidFill>
                <a:schemeClr val="bg1"/>
              </a:solidFill>
            </a:endParaRPr>
          </a:p>
          <a:p>
            <a:pPr algn="just">
              <a:buClr>
                <a:srgbClr val="0070C0"/>
              </a:buClr>
            </a:pPr>
            <a:endParaRPr lang="en-US" sz="2400" dirty="0">
              <a:solidFill>
                <a:schemeClr val="bg1"/>
              </a:solidFill>
            </a:endParaRPr>
          </a:p>
        </p:txBody>
      </p:sp>
      <p:pic>
        <p:nvPicPr>
          <p:cNvPr id="5" name="Picture 4">
            <a:extLst>
              <a:ext uri="{FF2B5EF4-FFF2-40B4-BE49-F238E27FC236}">
                <a16:creationId xmlns:a16="http://schemas.microsoft.com/office/drawing/2014/main" id="{3854D4EE-301E-49BB-A5FF-5AF184D8152C}"/>
              </a:ext>
            </a:extLst>
          </p:cNvPr>
          <p:cNvPicPr>
            <a:picLocks noChangeAspect="1"/>
          </p:cNvPicPr>
          <p:nvPr/>
        </p:nvPicPr>
        <p:blipFill>
          <a:blip r:embed="rId2"/>
          <a:stretch>
            <a:fillRect/>
          </a:stretch>
        </p:blipFill>
        <p:spPr>
          <a:xfrm>
            <a:off x="1321017" y="2063805"/>
            <a:ext cx="9549964" cy="2915888"/>
          </a:xfrm>
          <a:prstGeom prst="rect">
            <a:avLst/>
          </a:prstGeom>
        </p:spPr>
      </p:pic>
    </p:spTree>
    <p:extLst>
      <p:ext uri="{BB962C8B-B14F-4D97-AF65-F5344CB8AC3E}">
        <p14:creationId xmlns:p14="http://schemas.microsoft.com/office/powerpoint/2010/main" val="4258599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Index</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524315"/>
          </a:xfrm>
          <a:prstGeom prst="rect">
            <a:avLst/>
          </a:prstGeom>
          <a:noFill/>
        </p:spPr>
        <p:txBody>
          <a:bodyPr wrap="square" rtlCol="0">
            <a:spAutoFit/>
          </a:bodyPr>
          <a:lstStyle/>
          <a:p>
            <a:pPr marL="342900" indent="-342900" algn="just">
              <a:buClr>
                <a:srgbClr val="0070C0"/>
              </a:buClr>
              <a:buFont typeface="Calibri" panose="020F0502020204030204" pitchFamily="34" charset="0"/>
              <a:buChar char="●"/>
            </a:pPr>
            <a:r>
              <a:rPr lang="en-US" sz="2400" dirty="0">
                <a:solidFill>
                  <a:srgbClr val="FF00FF"/>
                </a:solidFill>
              </a:rPr>
              <a:t>The Cost of Performance (The Catch)</a:t>
            </a:r>
          </a:p>
          <a:p>
            <a:pPr algn="just">
              <a:buClr>
                <a:srgbClr val="0070C0"/>
              </a:buClr>
            </a:pPr>
            <a:r>
              <a:rPr lang="en-US" sz="2400" dirty="0">
                <a:solidFill>
                  <a:schemeClr val="bg1"/>
                </a:solidFill>
              </a:rPr>
              <a:t>While indexes make reads incredibly fast, they come with trade-offs:</a:t>
            </a:r>
          </a:p>
          <a:p>
            <a:pPr marL="800100" lvl="1" indent="-342900" algn="just">
              <a:buClr>
                <a:srgbClr val="0070C0"/>
              </a:buClr>
              <a:buFont typeface="Wingdings" panose="05000000000000000000" pitchFamily="2" charset="2"/>
              <a:buChar char="Ø"/>
            </a:pPr>
            <a:r>
              <a:rPr lang="en-US" sz="2400" dirty="0">
                <a:solidFill>
                  <a:srgbClr val="FF0000"/>
                </a:solidFill>
              </a:rPr>
              <a:t>Slower Writes</a:t>
            </a:r>
            <a:r>
              <a:rPr lang="en-US" sz="2400" dirty="0">
                <a:solidFill>
                  <a:schemeClr val="bg1"/>
                </a:solidFill>
              </a:rPr>
              <a:t>: Every time you run an INSERT, UPDATE, or DELETE, the database must modify the data table and update all relevant indexes.</a:t>
            </a:r>
          </a:p>
          <a:p>
            <a:pPr marL="800100" lvl="1" indent="-342900" algn="just">
              <a:buClr>
                <a:srgbClr val="0070C0"/>
              </a:buClr>
              <a:buFont typeface="Wingdings" panose="05000000000000000000" pitchFamily="2" charset="2"/>
              <a:buChar char="Ø"/>
            </a:pPr>
            <a:r>
              <a:rPr lang="en-US" sz="2400" dirty="0">
                <a:solidFill>
                  <a:srgbClr val="FF0000"/>
                </a:solidFill>
              </a:rPr>
              <a:t>Disk Space</a:t>
            </a:r>
            <a:r>
              <a:rPr lang="en-US" sz="2400" dirty="0">
                <a:solidFill>
                  <a:schemeClr val="bg1"/>
                </a:solidFill>
              </a:rPr>
              <a:t>: Indexes are physical structures stored on the disk. Creating too many indexes on a single table can consume significant storage.</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Golden Rule</a:t>
            </a:r>
            <a:r>
              <a:rPr lang="en-US" sz="2400" dirty="0">
                <a:solidFill>
                  <a:schemeClr val="bg1"/>
                </a:solidFill>
              </a:rPr>
              <a:t>: Only index columns that are frequently used in WHERE clauses, JOIN conditions, or ORDER BY statements. Avoid indexing columns that are rarely searched or frequently modified. To help tailor our next database optimization topic, let me know:</a:t>
            </a:r>
          </a:p>
          <a:p>
            <a:pPr algn="just">
              <a:buClr>
                <a:srgbClr val="0070C0"/>
              </a:buClr>
            </a:pPr>
            <a:endParaRPr lang="en-US" sz="2400" dirty="0">
              <a:solidFill>
                <a:schemeClr val="bg1"/>
              </a:solidFill>
            </a:endParaRPr>
          </a:p>
        </p:txBody>
      </p:sp>
    </p:spTree>
    <p:extLst>
      <p:ext uri="{BB962C8B-B14F-4D97-AF65-F5344CB8AC3E}">
        <p14:creationId xmlns:p14="http://schemas.microsoft.com/office/powerpoint/2010/main" val="23892001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Sub-Query</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154984"/>
          </a:xfrm>
          <a:prstGeom prst="rect">
            <a:avLst/>
          </a:prstGeom>
          <a:noFill/>
        </p:spPr>
        <p:txBody>
          <a:bodyPr wrap="square" rtlCol="0">
            <a:spAutoFit/>
          </a:bodyPr>
          <a:lstStyle/>
          <a:p>
            <a:pPr algn="just">
              <a:buClr>
                <a:srgbClr val="0070C0"/>
              </a:buClr>
            </a:pPr>
            <a:r>
              <a:rPr lang="en-US" sz="2400" dirty="0">
                <a:solidFill>
                  <a:schemeClr val="bg1"/>
                </a:solidFill>
              </a:rPr>
              <a:t>A SQL subquery (also called an </a:t>
            </a:r>
            <a:r>
              <a:rPr lang="en-US" sz="2400" dirty="0">
                <a:solidFill>
                  <a:srgbClr val="FF00FF"/>
                </a:solidFill>
              </a:rPr>
              <a:t>inner query </a:t>
            </a:r>
            <a:r>
              <a:rPr lang="en-US" sz="2400" dirty="0">
                <a:solidFill>
                  <a:schemeClr val="bg1"/>
                </a:solidFill>
              </a:rPr>
              <a:t>or </a:t>
            </a:r>
            <a:r>
              <a:rPr lang="en-US" sz="2400" dirty="0">
                <a:solidFill>
                  <a:srgbClr val="FF00FF"/>
                </a:solidFill>
              </a:rPr>
              <a:t>nested query</a:t>
            </a:r>
            <a:r>
              <a:rPr lang="en-US" sz="2400" dirty="0">
                <a:solidFill>
                  <a:schemeClr val="bg1"/>
                </a:solidFill>
              </a:rPr>
              <a:t>) is a SELECT statement embedded inside another SQL statement (the outer query) used to handle multi-step data filtering, calculations, and retrieval.</a:t>
            </a:r>
          </a:p>
          <a:p>
            <a:pPr algn="just">
              <a:buClr>
                <a:srgbClr val="0070C0"/>
              </a:buClr>
            </a:pPr>
            <a:endParaRPr lang="en-US" sz="2400" dirty="0">
              <a:solidFill>
                <a:schemeClr val="bg1"/>
              </a:solidFill>
            </a:endParaRPr>
          </a:p>
          <a:p>
            <a:pPr algn="just">
              <a:buClr>
                <a:srgbClr val="0070C0"/>
              </a:buClr>
            </a:pPr>
            <a:r>
              <a:rPr lang="en-US" sz="2400" dirty="0">
                <a:solidFill>
                  <a:srgbClr val="00B0F0"/>
                </a:solidFill>
              </a:rPr>
              <a:t>How Subqueries Execute</a:t>
            </a:r>
          </a:p>
          <a:p>
            <a:pPr marL="800100" lvl="1" indent="-342900" algn="just">
              <a:buClr>
                <a:srgbClr val="0070C0"/>
              </a:buClr>
              <a:buFont typeface="Wingdings" panose="05000000000000000000" pitchFamily="2" charset="2"/>
              <a:buChar char="Ø"/>
            </a:pPr>
            <a:r>
              <a:rPr lang="en-US" sz="2400" dirty="0">
                <a:solidFill>
                  <a:srgbClr val="FFC000"/>
                </a:solidFill>
              </a:rPr>
              <a:t>Execution Order</a:t>
            </a:r>
            <a:r>
              <a:rPr lang="en-US" sz="2400" dirty="0">
                <a:solidFill>
                  <a:schemeClr val="bg1"/>
                </a:solidFill>
              </a:rPr>
              <a:t>: The database always runs the inner subquery first, producing a temporary result set in memory.</a:t>
            </a:r>
          </a:p>
          <a:p>
            <a:pPr marL="800100" lvl="1" indent="-342900" algn="just">
              <a:buClr>
                <a:srgbClr val="0070C0"/>
              </a:buClr>
              <a:buFont typeface="Wingdings" panose="05000000000000000000" pitchFamily="2" charset="2"/>
              <a:buChar char="Ø"/>
            </a:pPr>
            <a:r>
              <a:rPr lang="en-US" sz="2400" dirty="0">
                <a:solidFill>
                  <a:srgbClr val="FFC000"/>
                </a:solidFill>
              </a:rPr>
              <a:t>Data Passing</a:t>
            </a:r>
            <a:r>
              <a:rPr lang="en-US" sz="2400" dirty="0">
                <a:solidFill>
                  <a:schemeClr val="bg1"/>
                </a:solidFill>
              </a:rPr>
              <a:t>: The database then passes that temporary result to the outer query.</a:t>
            </a:r>
          </a:p>
          <a:p>
            <a:pPr marL="800100" lvl="1" indent="-342900" algn="just">
              <a:buClr>
                <a:srgbClr val="0070C0"/>
              </a:buClr>
              <a:buFont typeface="Wingdings" panose="05000000000000000000" pitchFamily="2" charset="2"/>
              <a:buChar char="Ø"/>
            </a:pPr>
            <a:r>
              <a:rPr lang="en-US" sz="2400" dirty="0">
                <a:solidFill>
                  <a:srgbClr val="FFC000"/>
                </a:solidFill>
              </a:rPr>
              <a:t>Final Evaluation</a:t>
            </a:r>
            <a:r>
              <a:rPr lang="en-US" sz="2400" dirty="0">
                <a:solidFill>
                  <a:schemeClr val="bg1"/>
                </a:solidFill>
              </a:rPr>
              <a:t>: The outer query finishes its run using the values provided by the inner query.</a:t>
            </a:r>
          </a:p>
        </p:txBody>
      </p:sp>
    </p:spTree>
    <p:extLst>
      <p:ext uri="{BB962C8B-B14F-4D97-AF65-F5344CB8AC3E}">
        <p14:creationId xmlns:p14="http://schemas.microsoft.com/office/powerpoint/2010/main" val="7464629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Sub-Query</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720840"/>
            <a:ext cx="10926072" cy="3416320"/>
          </a:xfrm>
          <a:prstGeom prst="rect">
            <a:avLst/>
          </a:prstGeom>
          <a:noFill/>
        </p:spPr>
        <p:txBody>
          <a:bodyPr wrap="square" rtlCol="0">
            <a:spAutoFit/>
          </a:bodyPr>
          <a:lstStyle/>
          <a:p>
            <a:pPr algn="just">
              <a:buClr>
                <a:srgbClr val="0070C0"/>
              </a:buClr>
            </a:pPr>
            <a:r>
              <a:rPr lang="en-US" sz="2400" dirty="0">
                <a:solidFill>
                  <a:srgbClr val="00B0F0"/>
                </a:solidFill>
              </a:rPr>
              <a:t>Basic Syntax Rules</a:t>
            </a:r>
          </a:p>
          <a:p>
            <a:pPr algn="just">
              <a:buClr>
                <a:srgbClr val="0070C0"/>
              </a:buClr>
            </a:pPr>
            <a:endParaRPr lang="en-US" sz="2400" dirty="0">
              <a:solidFill>
                <a:srgbClr val="00B0F0"/>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Parentheses</a:t>
            </a:r>
            <a:r>
              <a:rPr lang="en-US" sz="2400" dirty="0">
                <a:solidFill>
                  <a:schemeClr val="bg1"/>
                </a:solidFill>
              </a:rPr>
              <a:t>:</a:t>
            </a:r>
            <a:r>
              <a:rPr lang="en-US" sz="2400" dirty="0">
                <a:solidFill>
                  <a:srgbClr val="FFC000"/>
                </a:solidFill>
              </a:rPr>
              <a:t> </a:t>
            </a:r>
            <a:r>
              <a:rPr lang="en-US" sz="2400" dirty="0">
                <a:solidFill>
                  <a:schemeClr val="bg1"/>
                </a:solidFill>
              </a:rPr>
              <a:t>The subquery must always be enclosed in parentheses ().</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Structure</a:t>
            </a:r>
            <a:r>
              <a:rPr lang="en-US" sz="2400" dirty="0">
                <a:solidFill>
                  <a:schemeClr val="bg1"/>
                </a:solidFill>
              </a:rPr>
              <a:t>: The inner block must always contain a SELECT keyword and a FROM clause.</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Operators</a:t>
            </a:r>
            <a:r>
              <a:rPr lang="en-US" sz="2400" dirty="0">
                <a:solidFill>
                  <a:schemeClr val="bg1"/>
                </a:solidFill>
              </a:rPr>
              <a:t>: The outer query connects to the inner result using standard operators like =, &gt;, &lt;, or IN.</a:t>
            </a:r>
          </a:p>
        </p:txBody>
      </p:sp>
    </p:spTree>
    <p:extLst>
      <p:ext uri="{BB962C8B-B14F-4D97-AF65-F5344CB8AC3E}">
        <p14:creationId xmlns:p14="http://schemas.microsoft.com/office/powerpoint/2010/main" val="16311534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Sub-Query</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154984"/>
          </a:xfrm>
          <a:prstGeom prst="rect">
            <a:avLst/>
          </a:prstGeom>
          <a:noFill/>
        </p:spPr>
        <p:txBody>
          <a:bodyPr wrap="square" rtlCol="0">
            <a:spAutoFit/>
          </a:bodyPr>
          <a:lstStyle/>
          <a:p>
            <a:pPr algn="just">
              <a:buClr>
                <a:srgbClr val="0070C0"/>
              </a:buClr>
            </a:pPr>
            <a:r>
              <a:rPr lang="en-US" sz="2400" dirty="0">
                <a:solidFill>
                  <a:srgbClr val="00B0F0"/>
                </a:solidFill>
              </a:rPr>
              <a:t>Where Subqueries Can Be Placed</a:t>
            </a:r>
          </a:p>
          <a:p>
            <a:pPr algn="just">
              <a:buClr>
                <a:srgbClr val="0070C0"/>
              </a:buClr>
            </a:pPr>
            <a:endParaRPr lang="en-US" sz="2400" dirty="0">
              <a:solidFill>
                <a:srgbClr val="00B0F0"/>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WHERE Clause</a:t>
            </a:r>
            <a:r>
              <a:rPr lang="en-US" sz="2400" dirty="0">
                <a:solidFill>
                  <a:schemeClr val="bg1"/>
                </a:solidFill>
              </a:rPr>
              <a:t>: Used to filter rows dynamically based on computed values.</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FROM Clause</a:t>
            </a:r>
            <a:r>
              <a:rPr lang="en-US" sz="2400" dirty="0">
                <a:solidFill>
                  <a:schemeClr val="bg1"/>
                </a:solidFill>
              </a:rPr>
              <a:t>: Used to create a temporary derived table that the outer query can read or join against.</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SELECT List</a:t>
            </a:r>
            <a:r>
              <a:rPr lang="en-US" sz="2400" dirty="0">
                <a:solidFill>
                  <a:schemeClr val="bg1"/>
                </a:solidFill>
              </a:rPr>
              <a:t>: Used to calculate a single value alongside regular column outputs for every row.</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HAVING Clause</a:t>
            </a:r>
            <a:r>
              <a:rPr lang="en-US" sz="2400" dirty="0">
                <a:solidFill>
                  <a:schemeClr val="bg1"/>
                </a:solidFill>
              </a:rPr>
              <a:t>: Used to filter group results after an aggregation step.</a:t>
            </a:r>
          </a:p>
        </p:txBody>
      </p:sp>
    </p:spTree>
    <p:extLst>
      <p:ext uri="{BB962C8B-B14F-4D97-AF65-F5344CB8AC3E}">
        <p14:creationId xmlns:p14="http://schemas.microsoft.com/office/powerpoint/2010/main" val="26299516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Sub-Query</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524315"/>
          </a:xfrm>
          <a:prstGeom prst="rect">
            <a:avLst/>
          </a:prstGeom>
          <a:noFill/>
        </p:spPr>
        <p:txBody>
          <a:bodyPr wrap="square" rtlCol="0">
            <a:spAutoFit/>
          </a:bodyPr>
          <a:lstStyle/>
          <a:p>
            <a:pPr algn="just">
              <a:buClr>
                <a:srgbClr val="0070C0"/>
              </a:buClr>
            </a:pPr>
            <a:r>
              <a:rPr lang="en-US" sz="2400" dirty="0">
                <a:solidFill>
                  <a:srgbClr val="00B0F0"/>
                </a:solidFill>
              </a:rPr>
              <a:t>Main Types of Subqueries</a:t>
            </a:r>
          </a:p>
          <a:p>
            <a:pPr algn="just">
              <a:buClr>
                <a:srgbClr val="0070C0"/>
              </a:buClr>
            </a:pPr>
            <a:endParaRPr lang="en-US" sz="2400" dirty="0">
              <a:solidFill>
                <a:srgbClr val="00B0F0"/>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Scalar Subquery</a:t>
            </a:r>
            <a:r>
              <a:rPr lang="en-US" sz="2400" dirty="0">
                <a:solidFill>
                  <a:schemeClr val="bg1"/>
                </a:solidFill>
              </a:rPr>
              <a:t>: Returns a single value (one row and one column).</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Multi-Row Subquery</a:t>
            </a:r>
            <a:r>
              <a:rPr lang="en-US" sz="2400" dirty="0">
                <a:solidFill>
                  <a:schemeClr val="bg1"/>
                </a:solidFill>
              </a:rPr>
              <a:t>: Returns multiple rows with one column, often used with the IN operator.</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Non-Correlated Subquery</a:t>
            </a:r>
            <a:r>
              <a:rPr lang="en-US" sz="2400" dirty="0">
                <a:solidFill>
                  <a:schemeClr val="bg1"/>
                </a:solidFill>
              </a:rPr>
              <a:t>: Runs independently of the outer query and can execute on its own.</a:t>
            </a:r>
          </a:p>
          <a:p>
            <a:pPr marL="800100" lvl="1" indent="-342900" algn="just">
              <a:buClr>
                <a:srgbClr val="0070C0"/>
              </a:buClr>
              <a:buFont typeface="Wingdings" panose="05000000000000000000" pitchFamily="2" charset="2"/>
              <a:buChar char="Ø"/>
            </a:pPr>
            <a:endParaRPr lang="en-US" sz="2400" dirty="0">
              <a:solidFill>
                <a:schemeClr val="bg1"/>
              </a:solidFill>
            </a:endParaRPr>
          </a:p>
          <a:p>
            <a:pPr marL="800100" lvl="1" indent="-342900" algn="just">
              <a:buClr>
                <a:srgbClr val="0070C0"/>
              </a:buClr>
              <a:buFont typeface="Wingdings" panose="05000000000000000000" pitchFamily="2" charset="2"/>
              <a:buChar char="Ø"/>
            </a:pPr>
            <a:r>
              <a:rPr lang="en-US" sz="2400" dirty="0">
                <a:solidFill>
                  <a:srgbClr val="FFC000"/>
                </a:solidFill>
              </a:rPr>
              <a:t>Correlated Subquery</a:t>
            </a:r>
            <a:r>
              <a:rPr lang="en-US" sz="2400" dirty="0">
                <a:solidFill>
                  <a:schemeClr val="bg1"/>
                </a:solidFill>
              </a:rPr>
              <a:t>: Depends on the outer query and runs repeatedly for each row processed by the outer statement.</a:t>
            </a:r>
          </a:p>
        </p:txBody>
      </p:sp>
    </p:spTree>
    <p:extLst>
      <p:ext uri="{BB962C8B-B14F-4D97-AF65-F5344CB8AC3E}">
        <p14:creationId xmlns:p14="http://schemas.microsoft.com/office/powerpoint/2010/main" val="760016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Sub-Query</a:t>
            </a:r>
          </a:p>
        </p:txBody>
      </p:sp>
      <p:sp>
        <p:nvSpPr>
          <p:cNvPr id="6" name="TextBox 5">
            <a:extLst>
              <a:ext uri="{FF2B5EF4-FFF2-40B4-BE49-F238E27FC236}">
                <a16:creationId xmlns:a16="http://schemas.microsoft.com/office/drawing/2014/main" id="{C6BD88F8-39F0-468C-8044-BB8083F70321}"/>
              </a:ext>
            </a:extLst>
          </p:cNvPr>
          <p:cNvSpPr txBox="1"/>
          <p:nvPr/>
        </p:nvSpPr>
        <p:spPr>
          <a:xfrm>
            <a:off x="632963" y="1463641"/>
            <a:ext cx="10926072" cy="3785652"/>
          </a:xfrm>
          <a:prstGeom prst="rect">
            <a:avLst/>
          </a:prstGeom>
          <a:noFill/>
        </p:spPr>
        <p:txBody>
          <a:bodyPr wrap="square" rtlCol="0">
            <a:spAutoFit/>
          </a:bodyPr>
          <a:lstStyle/>
          <a:p>
            <a:pPr algn="just">
              <a:buClr>
                <a:srgbClr val="0070C0"/>
              </a:buClr>
            </a:pPr>
            <a:r>
              <a:rPr lang="en-US" sz="2400" dirty="0">
                <a:solidFill>
                  <a:srgbClr val="00B0F0"/>
                </a:solidFill>
              </a:rPr>
              <a:t>Syntax:</a:t>
            </a: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endParaRPr lang="en-US" sz="2400" dirty="0">
              <a:solidFill>
                <a:srgbClr val="00B0F0"/>
              </a:solidFill>
            </a:endParaRPr>
          </a:p>
          <a:p>
            <a:pPr algn="just">
              <a:buClr>
                <a:srgbClr val="0070C0"/>
              </a:buClr>
            </a:pPr>
            <a:r>
              <a:rPr lang="en-US" sz="2400" dirty="0">
                <a:solidFill>
                  <a:srgbClr val="00B0F0"/>
                </a:solidFill>
              </a:rPr>
              <a:t>Example:</a:t>
            </a:r>
          </a:p>
          <a:p>
            <a:pPr algn="just">
              <a:buClr>
                <a:srgbClr val="0070C0"/>
              </a:buClr>
            </a:pPr>
            <a:endParaRPr lang="en-US" sz="2400" dirty="0">
              <a:solidFill>
                <a:srgbClr val="00B0F0"/>
              </a:solidFill>
            </a:endParaRPr>
          </a:p>
        </p:txBody>
      </p:sp>
      <p:pic>
        <p:nvPicPr>
          <p:cNvPr id="7" name="Picture 6">
            <a:extLst>
              <a:ext uri="{FF2B5EF4-FFF2-40B4-BE49-F238E27FC236}">
                <a16:creationId xmlns:a16="http://schemas.microsoft.com/office/drawing/2014/main" id="{B012F3B2-2B09-487C-A8D3-FD3475946700}"/>
              </a:ext>
            </a:extLst>
          </p:cNvPr>
          <p:cNvPicPr>
            <a:picLocks noChangeAspect="1"/>
          </p:cNvPicPr>
          <p:nvPr/>
        </p:nvPicPr>
        <p:blipFill>
          <a:blip r:embed="rId2"/>
          <a:stretch>
            <a:fillRect/>
          </a:stretch>
        </p:blipFill>
        <p:spPr>
          <a:xfrm>
            <a:off x="2308834" y="1879139"/>
            <a:ext cx="5719626" cy="1777139"/>
          </a:xfrm>
          <a:prstGeom prst="rect">
            <a:avLst/>
          </a:prstGeom>
        </p:spPr>
      </p:pic>
      <p:pic>
        <p:nvPicPr>
          <p:cNvPr id="9" name="Picture 8">
            <a:extLst>
              <a:ext uri="{FF2B5EF4-FFF2-40B4-BE49-F238E27FC236}">
                <a16:creationId xmlns:a16="http://schemas.microsoft.com/office/drawing/2014/main" id="{1A8BF693-126F-4BF4-85D7-A0D8EF6DF5A3}"/>
              </a:ext>
            </a:extLst>
          </p:cNvPr>
          <p:cNvPicPr>
            <a:picLocks noChangeAspect="1"/>
          </p:cNvPicPr>
          <p:nvPr/>
        </p:nvPicPr>
        <p:blipFill>
          <a:blip r:embed="rId3"/>
          <a:stretch>
            <a:fillRect/>
          </a:stretch>
        </p:blipFill>
        <p:spPr>
          <a:xfrm>
            <a:off x="2308834" y="5076624"/>
            <a:ext cx="6176851" cy="776420"/>
          </a:xfrm>
          <a:prstGeom prst="rect">
            <a:avLst/>
          </a:prstGeom>
        </p:spPr>
      </p:pic>
    </p:spTree>
    <p:extLst>
      <p:ext uri="{BB962C8B-B14F-4D97-AF65-F5344CB8AC3E}">
        <p14:creationId xmlns:p14="http://schemas.microsoft.com/office/powerpoint/2010/main" val="21999718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6" name="TextBox 5">
            <a:extLst>
              <a:ext uri="{FF2B5EF4-FFF2-40B4-BE49-F238E27FC236}">
                <a16:creationId xmlns:a16="http://schemas.microsoft.com/office/drawing/2014/main" id="{C6BD88F8-39F0-468C-8044-BB8083F70321}"/>
              </a:ext>
            </a:extLst>
          </p:cNvPr>
          <p:cNvSpPr txBox="1"/>
          <p:nvPr/>
        </p:nvSpPr>
        <p:spPr>
          <a:xfrm>
            <a:off x="632963" y="2644170"/>
            <a:ext cx="10926072" cy="1569660"/>
          </a:xfrm>
          <a:prstGeom prst="rect">
            <a:avLst/>
          </a:prstGeom>
          <a:noFill/>
        </p:spPr>
        <p:txBody>
          <a:bodyPr wrap="square" rtlCol="0">
            <a:spAutoFit/>
          </a:bodyPr>
          <a:lstStyle/>
          <a:p>
            <a:pPr algn="just">
              <a:buClr>
                <a:srgbClr val="0070C0"/>
              </a:buClr>
            </a:pPr>
            <a:r>
              <a:rPr lang="en-US" sz="2400" dirty="0">
                <a:solidFill>
                  <a:schemeClr val="bg1"/>
                </a:solidFill>
              </a:rPr>
              <a:t>An SQL clause is a built-in keyword or command used to </a:t>
            </a:r>
            <a:r>
              <a:rPr lang="en-US" sz="2400" dirty="0">
                <a:solidFill>
                  <a:srgbClr val="FFC000"/>
                </a:solidFill>
              </a:rPr>
              <a:t>filter, group, sort, join, </a:t>
            </a:r>
            <a:r>
              <a:rPr lang="en-US" sz="2400" dirty="0">
                <a:solidFill>
                  <a:schemeClr val="bg1"/>
                </a:solidFill>
              </a:rPr>
              <a:t>or </a:t>
            </a:r>
            <a:r>
              <a:rPr lang="en-US" sz="2400" dirty="0">
                <a:solidFill>
                  <a:srgbClr val="FFC000"/>
                </a:solidFill>
              </a:rPr>
              <a:t>restrict</a:t>
            </a:r>
            <a:r>
              <a:rPr lang="en-US" sz="2400" dirty="0">
                <a:solidFill>
                  <a:schemeClr val="bg1"/>
                </a:solidFill>
              </a:rPr>
              <a:t> data within a query. While a statement represents the entire instruction (like a full SELECT statement), clauses serve as the individual building blocks that define how data is fetched and manipulated.</a:t>
            </a:r>
          </a:p>
        </p:txBody>
      </p:sp>
    </p:spTree>
    <p:extLst>
      <p:ext uri="{BB962C8B-B14F-4D97-AF65-F5344CB8AC3E}">
        <p14:creationId xmlns:p14="http://schemas.microsoft.com/office/powerpoint/2010/main" val="17348404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154984"/>
          </a:xfrm>
          <a:prstGeom prst="rect">
            <a:avLst/>
          </a:prstGeom>
          <a:noFill/>
        </p:spPr>
        <p:txBody>
          <a:bodyPr wrap="square" rtlCol="0">
            <a:spAutoFit/>
          </a:bodyPr>
          <a:lstStyle/>
          <a:p>
            <a:pPr algn="just">
              <a:buClr>
                <a:srgbClr val="0070C0"/>
              </a:buClr>
            </a:pPr>
            <a:r>
              <a:rPr lang="en-US" sz="2400" dirty="0">
                <a:solidFill>
                  <a:srgbClr val="00B0F0"/>
                </a:solidFill>
              </a:rPr>
              <a:t>Data Retrieval &amp; Source Clauses</a:t>
            </a:r>
          </a:p>
          <a:p>
            <a:pPr algn="just">
              <a:buClr>
                <a:srgbClr val="0070C0"/>
              </a:buClr>
            </a:pPr>
            <a:endParaRPr lang="en-US" sz="2400" dirty="0">
              <a:solidFill>
                <a:srgbClr val="00B0F0"/>
              </a:solidFill>
            </a:endParaRPr>
          </a:p>
          <a:p>
            <a:pPr algn="just">
              <a:buClr>
                <a:srgbClr val="0070C0"/>
              </a:buClr>
            </a:pPr>
            <a:r>
              <a:rPr lang="en-US" sz="2400" dirty="0">
                <a:solidFill>
                  <a:srgbClr val="FFC000"/>
                </a:solidFill>
              </a:rPr>
              <a:t>SELECT</a:t>
            </a:r>
            <a:r>
              <a:rPr lang="en-US" sz="2400" dirty="0">
                <a:solidFill>
                  <a:schemeClr val="bg1"/>
                </a:solidFill>
              </a:rPr>
              <a:t>: Specifies which columns or expressions the query should return in the final result set.</a:t>
            </a:r>
          </a:p>
          <a:p>
            <a:pPr lvl="1" algn="just">
              <a:buClr>
                <a:srgbClr val="0070C0"/>
              </a:buClr>
            </a:pPr>
            <a:r>
              <a:rPr lang="en-US" sz="2400" dirty="0">
                <a:solidFill>
                  <a:srgbClr val="92D050"/>
                </a:solidFill>
              </a:rPr>
              <a:t>Data Type/Role</a:t>
            </a:r>
            <a:r>
              <a:rPr lang="en-US" sz="2400" dirty="0">
                <a:solidFill>
                  <a:schemeClr val="bg1"/>
                </a:solidFill>
              </a:rPr>
              <a:t>: Projection operator; accepts column names, literal values, or mathematical functions.</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FROM</a:t>
            </a:r>
            <a:r>
              <a:rPr lang="en-US" sz="2400" dirty="0">
                <a:solidFill>
                  <a:schemeClr val="bg1"/>
                </a:solidFill>
              </a:rPr>
              <a:t>: Identifies the primary table or views from which the database must pull the source records.</a:t>
            </a:r>
          </a:p>
          <a:p>
            <a:pPr lvl="1" algn="just">
              <a:buClr>
                <a:srgbClr val="0070C0"/>
              </a:buClr>
            </a:pPr>
            <a:r>
              <a:rPr lang="en-US" sz="2400" dirty="0">
                <a:solidFill>
                  <a:srgbClr val="92D050"/>
                </a:solidFill>
              </a:rPr>
              <a:t>Data Type/Role</a:t>
            </a:r>
            <a:r>
              <a:rPr lang="en-US" sz="2400" dirty="0">
                <a:solidFill>
                  <a:schemeClr val="bg1"/>
                </a:solidFill>
              </a:rPr>
              <a:t>: Source locator; accepts table names, subqueries, or table-valued functions.</a:t>
            </a:r>
          </a:p>
        </p:txBody>
      </p:sp>
    </p:spTree>
    <p:extLst>
      <p:ext uri="{BB962C8B-B14F-4D97-AF65-F5344CB8AC3E}">
        <p14:creationId xmlns:p14="http://schemas.microsoft.com/office/powerpoint/2010/main" val="2693805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154984"/>
          </a:xfrm>
          <a:prstGeom prst="rect">
            <a:avLst/>
          </a:prstGeom>
          <a:noFill/>
        </p:spPr>
        <p:txBody>
          <a:bodyPr wrap="square" rtlCol="0">
            <a:spAutoFit/>
          </a:bodyPr>
          <a:lstStyle/>
          <a:p>
            <a:pPr algn="just">
              <a:buClr>
                <a:srgbClr val="0070C0"/>
              </a:buClr>
            </a:pPr>
            <a:r>
              <a:rPr lang="en-US" sz="2400" dirty="0">
                <a:solidFill>
                  <a:srgbClr val="00B0F0"/>
                </a:solidFill>
              </a:rPr>
              <a:t>Data Filtering Clauses</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WHERE</a:t>
            </a:r>
            <a:r>
              <a:rPr lang="en-US" sz="2400" dirty="0">
                <a:solidFill>
                  <a:schemeClr val="bg1"/>
                </a:solidFill>
              </a:rPr>
              <a:t>: Filters individual rows before any grouping or aggregation takes place based on specific conditional criteria.</a:t>
            </a:r>
          </a:p>
          <a:p>
            <a:pPr lvl="1" algn="just">
              <a:buClr>
                <a:srgbClr val="0070C0"/>
              </a:buClr>
            </a:pPr>
            <a:r>
              <a:rPr lang="en-US" sz="2400" dirty="0">
                <a:solidFill>
                  <a:srgbClr val="92D050"/>
                </a:solidFill>
              </a:rPr>
              <a:t>Data Type/Role</a:t>
            </a:r>
            <a:r>
              <a:rPr lang="en-US" sz="2400" dirty="0">
                <a:solidFill>
                  <a:schemeClr val="bg1"/>
                </a:solidFill>
              </a:rPr>
              <a:t>: Row-level predicate filter; accepts </a:t>
            </a:r>
            <a:r>
              <a:rPr lang="en-US" sz="2400" dirty="0" err="1">
                <a:solidFill>
                  <a:schemeClr val="bg1"/>
                </a:solidFill>
              </a:rPr>
              <a:t>boolean</a:t>
            </a:r>
            <a:r>
              <a:rPr lang="en-US" sz="2400" dirty="0">
                <a:solidFill>
                  <a:schemeClr val="bg1"/>
                </a:solidFill>
              </a:rPr>
              <a:t> expressions that evaluate to true or false.</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HAVING</a:t>
            </a:r>
            <a:r>
              <a:rPr lang="en-US" sz="2400" dirty="0">
                <a:solidFill>
                  <a:schemeClr val="bg1"/>
                </a:solidFill>
              </a:rPr>
              <a:t>: Filters aggregated groups after the GROUP BY clause has organized the data rows.</a:t>
            </a:r>
          </a:p>
          <a:p>
            <a:pPr lvl="1" algn="just">
              <a:buClr>
                <a:srgbClr val="0070C0"/>
              </a:buClr>
            </a:pPr>
            <a:r>
              <a:rPr lang="en-US" sz="2400" dirty="0">
                <a:solidFill>
                  <a:srgbClr val="92D050"/>
                </a:solidFill>
              </a:rPr>
              <a:t>Data Type/Role</a:t>
            </a:r>
            <a:r>
              <a:rPr lang="en-US" sz="2400" dirty="0">
                <a:solidFill>
                  <a:schemeClr val="bg1"/>
                </a:solidFill>
              </a:rPr>
              <a:t>: Group-level predicate filter; accepts </a:t>
            </a:r>
            <a:r>
              <a:rPr lang="en-US" sz="2400" dirty="0" err="1">
                <a:solidFill>
                  <a:schemeClr val="bg1"/>
                </a:solidFill>
              </a:rPr>
              <a:t>boolean</a:t>
            </a:r>
            <a:r>
              <a:rPr lang="en-US" sz="2400" dirty="0">
                <a:solidFill>
                  <a:schemeClr val="bg1"/>
                </a:solidFill>
              </a:rPr>
              <a:t> expressions that contain aggregate functions (like SUM(), AVG()).</a:t>
            </a:r>
          </a:p>
        </p:txBody>
      </p:sp>
    </p:spTree>
    <p:extLst>
      <p:ext uri="{BB962C8B-B14F-4D97-AF65-F5344CB8AC3E}">
        <p14:creationId xmlns:p14="http://schemas.microsoft.com/office/powerpoint/2010/main" val="33808728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3785652"/>
          </a:xfrm>
          <a:prstGeom prst="rect">
            <a:avLst/>
          </a:prstGeom>
          <a:noFill/>
        </p:spPr>
        <p:txBody>
          <a:bodyPr wrap="square" rtlCol="0">
            <a:spAutoFit/>
          </a:bodyPr>
          <a:lstStyle/>
          <a:p>
            <a:pPr algn="just">
              <a:buClr>
                <a:srgbClr val="0070C0"/>
              </a:buClr>
            </a:pPr>
            <a:r>
              <a:rPr lang="en-US" sz="2400" dirty="0">
                <a:solidFill>
                  <a:srgbClr val="00B0F0"/>
                </a:solidFill>
              </a:rPr>
              <a:t>Data Organization &amp; Aggregation Clauses</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GROUP BY</a:t>
            </a:r>
            <a:r>
              <a:rPr lang="en-US" sz="2400" dirty="0">
                <a:solidFill>
                  <a:schemeClr val="bg1"/>
                </a:solidFill>
              </a:rPr>
              <a:t>: Arranges raw data rows into summary groups sharing identical values in specified columns.</a:t>
            </a:r>
          </a:p>
          <a:p>
            <a:pPr lvl="1" algn="just">
              <a:buClr>
                <a:srgbClr val="0070C0"/>
              </a:buClr>
            </a:pPr>
            <a:r>
              <a:rPr lang="en-US" sz="2400" dirty="0">
                <a:solidFill>
                  <a:srgbClr val="92D050"/>
                </a:solidFill>
              </a:rPr>
              <a:t>Data Type/Role</a:t>
            </a:r>
            <a:r>
              <a:rPr lang="en-US" sz="2400" dirty="0">
                <a:solidFill>
                  <a:schemeClr val="bg1"/>
                </a:solidFill>
              </a:rPr>
              <a:t>: Aggregator; accepts column names or expressions to define the grouping buckets.</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ORDER BY</a:t>
            </a:r>
            <a:r>
              <a:rPr lang="en-US" sz="2400" dirty="0">
                <a:solidFill>
                  <a:schemeClr val="bg1"/>
                </a:solidFill>
              </a:rPr>
              <a:t>: Sorts the final result set in either ascending (ASC) or descending (DESC) order.</a:t>
            </a:r>
          </a:p>
          <a:p>
            <a:pPr lvl="1" algn="just">
              <a:buClr>
                <a:srgbClr val="0070C0"/>
              </a:buClr>
            </a:pPr>
            <a:r>
              <a:rPr lang="en-US" sz="2400" dirty="0">
                <a:solidFill>
                  <a:srgbClr val="92D050"/>
                </a:solidFill>
              </a:rPr>
              <a:t>Data Type/Role</a:t>
            </a:r>
            <a:r>
              <a:rPr lang="en-US" sz="2400" dirty="0">
                <a:solidFill>
                  <a:schemeClr val="bg1"/>
                </a:solidFill>
              </a:rPr>
              <a:t>: Sorter; accepts column names, aliases, or column index positions.</a:t>
            </a:r>
          </a:p>
        </p:txBody>
      </p:sp>
    </p:spTree>
    <p:extLst>
      <p:ext uri="{BB962C8B-B14F-4D97-AF65-F5344CB8AC3E}">
        <p14:creationId xmlns:p14="http://schemas.microsoft.com/office/powerpoint/2010/main" val="31187332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4524315"/>
          </a:xfrm>
          <a:prstGeom prst="rect">
            <a:avLst/>
          </a:prstGeom>
          <a:noFill/>
        </p:spPr>
        <p:txBody>
          <a:bodyPr wrap="square" rtlCol="0">
            <a:spAutoFit/>
          </a:bodyPr>
          <a:lstStyle/>
          <a:p>
            <a:pPr algn="just">
              <a:buClr>
                <a:srgbClr val="0070C0"/>
              </a:buClr>
            </a:pPr>
            <a:r>
              <a:rPr lang="en-US" sz="2400" dirty="0">
                <a:solidFill>
                  <a:srgbClr val="00B0F0"/>
                </a:solidFill>
              </a:rPr>
              <a:t>Row Restricting &amp; Combination Clauses</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LIMIT / TOP / FETCH</a:t>
            </a:r>
            <a:r>
              <a:rPr lang="en-US" sz="2400" dirty="0">
                <a:solidFill>
                  <a:schemeClr val="bg1"/>
                </a:solidFill>
              </a:rPr>
              <a:t>: Restricts the maximum number of rows returned to the client application.</a:t>
            </a:r>
          </a:p>
          <a:p>
            <a:pPr lvl="1" algn="just">
              <a:buClr>
                <a:srgbClr val="0070C0"/>
              </a:buClr>
            </a:pPr>
            <a:r>
              <a:rPr lang="en-US" sz="2400" dirty="0">
                <a:solidFill>
                  <a:srgbClr val="92D050"/>
                </a:solidFill>
              </a:rPr>
              <a:t>Data Type/Role</a:t>
            </a:r>
            <a:r>
              <a:rPr lang="en-US" sz="2400" dirty="0">
                <a:solidFill>
                  <a:schemeClr val="bg1"/>
                </a:solidFill>
              </a:rPr>
              <a:t>: Window limiter; accepts literal integer values. Note that LIMIT is standard in MySQL/PostgreSQL, TOP is used in SQL Server, and FETCH NEXT is ANSI SQL compliant.</a:t>
            </a:r>
          </a:p>
          <a:p>
            <a:pPr algn="just">
              <a:buClr>
                <a:srgbClr val="0070C0"/>
              </a:buClr>
            </a:pPr>
            <a:endParaRPr lang="en-US" sz="2400" dirty="0">
              <a:solidFill>
                <a:schemeClr val="bg1"/>
              </a:solidFill>
            </a:endParaRPr>
          </a:p>
          <a:p>
            <a:pPr algn="just">
              <a:buClr>
                <a:srgbClr val="0070C0"/>
              </a:buClr>
            </a:pPr>
            <a:r>
              <a:rPr lang="en-US" sz="2400" dirty="0">
                <a:solidFill>
                  <a:srgbClr val="FFC000"/>
                </a:solidFill>
              </a:rPr>
              <a:t>JOIN</a:t>
            </a:r>
            <a:r>
              <a:rPr lang="en-US" sz="2400" dirty="0">
                <a:solidFill>
                  <a:schemeClr val="bg1"/>
                </a:solidFill>
              </a:rPr>
              <a:t>: Combines rows from two or more tables based on a related column shared between them.</a:t>
            </a:r>
          </a:p>
          <a:p>
            <a:pPr lvl="1" algn="just">
              <a:buClr>
                <a:srgbClr val="0070C0"/>
              </a:buClr>
            </a:pPr>
            <a:r>
              <a:rPr lang="en-US" sz="2400" dirty="0">
                <a:solidFill>
                  <a:srgbClr val="92D050"/>
                </a:solidFill>
              </a:rPr>
              <a:t>Data Type/Role</a:t>
            </a:r>
            <a:r>
              <a:rPr lang="en-US" sz="2400" dirty="0">
                <a:solidFill>
                  <a:schemeClr val="bg1"/>
                </a:solidFill>
              </a:rPr>
              <a:t>: Relation combiner; evaluates logical conditions linked via the ON keyword.</a:t>
            </a:r>
          </a:p>
        </p:txBody>
      </p:sp>
    </p:spTree>
    <p:extLst>
      <p:ext uri="{BB962C8B-B14F-4D97-AF65-F5344CB8AC3E}">
        <p14:creationId xmlns:p14="http://schemas.microsoft.com/office/powerpoint/2010/main" val="760513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a:t>
            </a:r>
            <a:r>
              <a:rPr lang="en-US" sz="5400" dirty="0">
                <a:solidFill>
                  <a:schemeClr val="bg1"/>
                </a:solidFill>
                <a:latin typeface="Roboto ExtraBold" panose="02000000000000000000" pitchFamily="2" charset="0"/>
                <a:ea typeface="Roboto ExtraBold" panose="02000000000000000000" pitchFamily="2" charset="0"/>
              </a:rPr>
              <a:t> </a:t>
            </a:r>
            <a:r>
              <a:rPr lang="en-US" sz="5400" dirty="0">
                <a:solidFill>
                  <a:srgbClr val="FF00FF"/>
                </a:solidFill>
                <a:latin typeface="Roboto ExtraBold" panose="02000000000000000000" pitchFamily="2" charset="0"/>
                <a:ea typeface="Roboto ExtraBold" panose="02000000000000000000" pitchFamily="2" charset="0"/>
              </a:rPr>
              <a:t>Clauses</a:t>
            </a:r>
          </a:p>
        </p:txBody>
      </p:sp>
      <p:sp>
        <p:nvSpPr>
          <p:cNvPr id="10" name="TextBox 9">
            <a:extLst>
              <a:ext uri="{FF2B5EF4-FFF2-40B4-BE49-F238E27FC236}">
                <a16:creationId xmlns:a16="http://schemas.microsoft.com/office/drawing/2014/main" id="{72921B61-0D4D-49C8-91AD-03F16A464F91}"/>
              </a:ext>
            </a:extLst>
          </p:cNvPr>
          <p:cNvSpPr txBox="1"/>
          <p:nvPr/>
        </p:nvSpPr>
        <p:spPr>
          <a:xfrm>
            <a:off x="632963" y="1463641"/>
            <a:ext cx="10926072" cy="1569660"/>
          </a:xfrm>
          <a:prstGeom prst="rect">
            <a:avLst/>
          </a:prstGeom>
          <a:noFill/>
        </p:spPr>
        <p:txBody>
          <a:bodyPr wrap="square" rtlCol="0">
            <a:spAutoFit/>
          </a:bodyPr>
          <a:lstStyle/>
          <a:p>
            <a:pPr algn="just">
              <a:buClr>
                <a:srgbClr val="0070C0"/>
              </a:buClr>
            </a:pPr>
            <a:r>
              <a:rPr lang="en-US" sz="2400" dirty="0">
                <a:solidFill>
                  <a:srgbClr val="00B0F0"/>
                </a:solidFill>
              </a:rPr>
              <a:t>Standard Execution Order</a:t>
            </a:r>
            <a:endParaRPr lang="en-US" sz="2400" dirty="0">
              <a:solidFill>
                <a:schemeClr val="bg1"/>
              </a:solidFill>
            </a:endParaRPr>
          </a:p>
          <a:p>
            <a:pPr algn="just">
              <a:buClr>
                <a:srgbClr val="0070C0"/>
              </a:buClr>
            </a:pPr>
            <a:r>
              <a:rPr lang="en-US" sz="2400" b="0" i="0" dirty="0">
                <a:solidFill>
                  <a:srgbClr val="DDDDDD"/>
                </a:solidFill>
                <a:effectLst/>
                <a:latin typeface="-apple-system"/>
              </a:rPr>
              <a:t>In SQL, the execution order is entirely different from the written order. The database engine executes these clauses in a strict logical sequence to locate and process data cleanly:</a:t>
            </a:r>
            <a:endParaRPr lang="en-US" sz="2400" dirty="0">
              <a:solidFill>
                <a:srgbClr val="00B0F0"/>
              </a:solidFill>
            </a:endParaRPr>
          </a:p>
        </p:txBody>
      </p:sp>
      <p:pic>
        <p:nvPicPr>
          <p:cNvPr id="3" name="Picture 2">
            <a:extLst>
              <a:ext uri="{FF2B5EF4-FFF2-40B4-BE49-F238E27FC236}">
                <a16:creationId xmlns:a16="http://schemas.microsoft.com/office/drawing/2014/main" id="{3A1D04D0-B52D-4539-826C-C136572CC082}"/>
              </a:ext>
            </a:extLst>
          </p:cNvPr>
          <p:cNvPicPr>
            <a:picLocks noChangeAspect="1"/>
          </p:cNvPicPr>
          <p:nvPr/>
        </p:nvPicPr>
        <p:blipFill>
          <a:blip r:embed="rId2"/>
          <a:stretch>
            <a:fillRect/>
          </a:stretch>
        </p:blipFill>
        <p:spPr>
          <a:xfrm>
            <a:off x="1894705" y="3033301"/>
            <a:ext cx="8402588" cy="3640546"/>
          </a:xfrm>
          <a:prstGeom prst="rect">
            <a:avLst/>
          </a:prstGeom>
        </p:spPr>
      </p:pic>
    </p:spTree>
    <p:extLst>
      <p:ext uri="{BB962C8B-B14F-4D97-AF65-F5344CB8AC3E}">
        <p14:creationId xmlns:p14="http://schemas.microsoft.com/office/powerpoint/2010/main" val="21210758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8613CF-1DC1-4A64-AAD7-916500B5BF8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 </a:t>
            </a:r>
            <a:r>
              <a:rPr lang="en-US" sz="5400" dirty="0">
                <a:solidFill>
                  <a:srgbClr val="FF00FF"/>
                </a:solidFill>
                <a:latin typeface="Roboto ExtraBold" panose="02000000000000000000" pitchFamily="2" charset="0"/>
                <a:ea typeface="Roboto ExtraBold" panose="02000000000000000000" pitchFamily="2" charset="0"/>
              </a:rPr>
              <a:t>Clauses</a:t>
            </a:r>
            <a:r>
              <a:rPr lang="en-US" sz="5400" dirty="0">
                <a:solidFill>
                  <a:schemeClr val="bg1"/>
                </a:solidFill>
                <a:latin typeface="Roboto ExtraBold" panose="02000000000000000000" pitchFamily="2" charset="0"/>
                <a:ea typeface="Roboto ExtraBold" panose="02000000000000000000" pitchFamily="2" charset="0"/>
              </a:rPr>
              <a:t> Example</a:t>
            </a:r>
          </a:p>
        </p:txBody>
      </p:sp>
      <p:pic>
        <p:nvPicPr>
          <p:cNvPr id="7" name="Picture 6">
            <a:extLst>
              <a:ext uri="{FF2B5EF4-FFF2-40B4-BE49-F238E27FC236}">
                <a16:creationId xmlns:a16="http://schemas.microsoft.com/office/drawing/2014/main" id="{31C5A8CC-4862-4C44-8305-8B9EE09CB657}"/>
              </a:ext>
            </a:extLst>
          </p:cNvPr>
          <p:cNvPicPr>
            <a:picLocks noChangeAspect="1"/>
          </p:cNvPicPr>
          <p:nvPr/>
        </p:nvPicPr>
        <p:blipFill>
          <a:blip r:embed="rId2"/>
          <a:stretch>
            <a:fillRect/>
          </a:stretch>
        </p:blipFill>
        <p:spPr>
          <a:xfrm>
            <a:off x="1575512" y="1587159"/>
            <a:ext cx="4278936" cy="3683681"/>
          </a:xfrm>
          <a:prstGeom prst="rect">
            <a:avLst/>
          </a:prstGeom>
        </p:spPr>
      </p:pic>
      <p:pic>
        <p:nvPicPr>
          <p:cNvPr id="9" name="Picture 8">
            <a:extLst>
              <a:ext uri="{FF2B5EF4-FFF2-40B4-BE49-F238E27FC236}">
                <a16:creationId xmlns:a16="http://schemas.microsoft.com/office/drawing/2014/main" id="{84EF9DDA-2FE0-4D03-8960-382213F2E508}"/>
              </a:ext>
            </a:extLst>
          </p:cNvPr>
          <p:cNvPicPr>
            <a:picLocks noChangeAspect="1"/>
          </p:cNvPicPr>
          <p:nvPr/>
        </p:nvPicPr>
        <p:blipFill>
          <a:blip r:embed="rId3"/>
          <a:stretch>
            <a:fillRect/>
          </a:stretch>
        </p:blipFill>
        <p:spPr>
          <a:xfrm>
            <a:off x="6095999" y="1595786"/>
            <a:ext cx="4520489" cy="3675054"/>
          </a:xfrm>
          <a:prstGeom prst="rect">
            <a:avLst/>
          </a:prstGeom>
        </p:spPr>
      </p:pic>
    </p:spTree>
    <p:extLst>
      <p:ext uri="{BB962C8B-B14F-4D97-AF65-F5344CB8AC3E}">
        <p14:creationId xmlns:p14="http://schemas.microsoft.com/office/powerpoint/2010/main" val="42114090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0E1DD6-478A-40BF-8766-17BD50714350}"/>
              </a:ext>
            </a:extLst>
          </p:cNvPr>
          <p:cNvPicPr>
            <a:picLocks noChangeAspect="1"/>
          </p:cNvPicPr>
          <p:nvPr/>
        </p:nvPicPr>
        <p:blipFill>
          <a:blip r:embed="rId2"/>
          <a:stretch>
            <a:fillRect/>
          </a:stretch>
        </p:blipFill>
        <p:spPr>
          <a:xfrm>
            <a:off x="3581261" y="1975369"/>
            <a:ext cx="5029475" cy="2907261"/>
          </a:xfrm>
          <a:prstGeom prst="rect">
            <a:avLst/>
          </a:prstGeom>
        </p:spPr>
      </p:pic>
      <p:sp>
        <p:nvSpPr>
          <p:cNvPr id="8" name="TextBox 7">
            <a:extLst>
              <a:ext uri="{FF2B5EF4-FFF2-40B4-BE49-F238E27FC236}">
                <a16:creationId xmlns:a16="http://schemas.microsoft.com/office/drawing/2014/main" id="{0D0A2549-EFB8-47E3-8DB4-C22BE3FCF3E9}"/>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 </a:t>
            </a:r>
            <a:r>
              <a:rPr lang="en-US" sz="5400" dirty="0">
                <a:solidFill>
                  <a:srgbClr val="FF00FF"/>
                </a:solidFill>
                <a:latin typeface="Roboto ExtraBold" panose="02000000000000000000" pitchFamily="2" charset="0"/>
                <a:ea typeface="Roboto ExtraBold" panose="02000000000000000000" pitchFamily="2" charset="0"/>
              </a:rPr>
              <a:t>Clauses</a:t>
            </a:r>
            <a:r>
              <a:rPr lang="en-US" sz="5400" dirty="0">
                <a:solidFill>
                  <a:schemeClr val="bg1"/>
                </a:solidFill>
                <a:latin typeface="Roboto ExtraBold" panose="02000000000000000000" pitchFamily="2" charset="0"/>
                <a:ea typeface="Roboto ExtraBold" panose="02000000000000000000" pitchFamily="2" charset="0"/>
              </a:rPr>
              <a:t> Example</a:t>
            </a:r>
          </a:p>
        </p:txBody>
      </p:sp>
    </p:spTree>
    <p:extLst>
      <p:ext uri="{BB962C8B-B14F-4D97-AF65-F5344CB8AC3E}">
        <p14:creationId xmlns:p14="http://schemas.microsoft.com/office/powerpoint/2010/main" val="2941991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13E589-1DF5-4D2D-892D-26A332E5AF98}"/>
              </a:ext>
            </a:extLst>
          </p:cNvPr>
          <p:cNvSpPr txBox="1"/>
          <p:nvPr/>
        </p:nvSpPr>
        <p:spPr>
          <a:xfrm>
            <a:off x="632963" y="1463641"/>
            <a:ext cx="10926072" cy="4893647"/>
          </a:xfrm>
          <a:prstGeom prst="rect">
            <a:avLst/>
          </a:prstGeom>
          <a:noFill/>
        </p:spPr>
        <p:txBody>
          <a:bodyPr wrap="square" rtlCol="0">
            <a:spAutoFit/>
          </a:bodyPr>
          <a:lstStyle/>
          <a:p>
            <a:pPr algn="just">
              <a:buClr>
                <a:srgbClr val="0070C0"/>
              </a:buClr>
            </a:pPr>
            <a:r>
              <a:rPr lang="en-US" sz="2400" dirty="0">
                <a:solidFill>
                  <a:srgbClr val="00B0F0"/>
                </a:solidFill>
              </a:rPr>
              <a:t>Step by Step breakdown</a:t>
            </a:r>
          </a:p>
          <a:p>
            <a:pPr algn="just">
              <a:buClr>
                <a:srgbClr val="0070C0"/>
              </a:buClr>
            </a:pPr>
            <a:endParaRPr lang="en-US" sz="2400" dirty="0">
              <a:solidFill>
                <a:schemeClr val="bg1"/>
              </a:solidFill>
            </a:endParaRPr>
          </a:p>
          <a:p>
            <a:pPr algn="just">
              <a:buClr>
                <a:srgbClr val="0070C0"/>
              </a:buClr>
            </a:pPr>
            <a:r>
              <a:rPr lang="en-US" sz="2400" dirty="0">
                <a:solidFill>
                  <a:schemeClr val="bg1"/>
                </a:solidFill>
              </a:rPr>
              <a:t>When the database runs this query, it processes the clauses in this exact logical order:</a:t>
            </a:r>
          </a:p>
          <a:p>
            <a:pPr marL="342900" indent="-342900" algn="just">
              <a:buClr>
                <a:srgbClr val="0070C0"/>
              </a:buClr>
              <a:buFont typeface="Calibri" panose="020F0502020204030204" pitchFamily="34" charset="0"/>
              <a:buChar char="●"/>
            </a:pPr>
            <a:r>
              <a:rPr lang="en-US" sz="2400" dirty="0">
                <a:solidFill>
                  <a:srgbClr val="FFC000"/>
                </a:solidFill>
              </a:rPr>
              <a:t>FROM &amp; JOIN</a:t>
            </a:r>
            <a:r>
              <a:rPr lang="en-US" sz="2400" dirty="0">
                <a:solidFill>
                  <a:schemeClr val="bg1"/>
                </a:solidFill>
              </a:rPr>
              <a:t>: The database loads the employees table (e) and links it to the departments table (d) using the matching </a:t>
            </a:r>
            <a:r>
              <a:rPr lang="en-US" sz="2400" dirty="0" err="1">
                <a:solidFill>
                  <a:schemeClr val="bg1"/>
                </a:solidFill>
              </a:rPr>
              <a:t>department_id</a:t>
            </a:r>
            <a:r>
              <a:rPr lang="en-US" sz="2400" dirty="0">
                <a:solidFill>
                  <a:schemeClr val="bg1"/>
                </a:solidFill>
              </a:rPr>
              <a:t> values.</a:t>
            </a:r>
          </a:p>
          <a:p>
            <a:pPr marL="342900" indent="-342900" algn="just">
              <a:buClr>
                <a:srgbClr val="0070C0"/>
              </a:buClr>
              <a:buFont typeface="Calibri" panose="020F0502020204030204" pitchFamily="34" charset="0"/>
              <a:buChar char="●"/>
            </a:pPr>
            <a:r>
              <a:rPr lang="en-US" sz="2400" dirty="0">
                <a:solidFill>
                  <a:srgbClr val="FFC000"/>
                </a:solidFill>
              </a:rPr>
              <a:t>WHERE</a:t>
            </a:r>
            <a:r>
              <a:rPr lang="en-US" sz="2400" dirty="0">
                <a:solidFill>
                  <a:schemeClr val="bg1"/>
                </a:solidFill>
              </a:rPr>
              <a:t>: It immediately filters out '</a:t>
            </a:r>
            <a:r>
              <a:rPr lang="en-US" sz="2400" dirty="0" err="1">
                <a:solidFill>
                  <a:schemeClr val="bg1"/>
                </a:solidFill>
              </a:rPr>
              <a:t>Rahi</a:t>
            </a:r>
            <a:r>
              <a:rPr lang="en-US" sz="2400" dirty="0">
                <a:solidFill>
                  <a:schemeClr val="bg1"/>
                </a:solidFill>
              </a:rPr>
              <a:t>' because his status is 'Terminated'. Only 'Active' employees advance.</a:t>
            </a:r>
          </a:p>
          <a:p>
            <a:pPr marL="342900" indent="-342900" algn="just">
              <a:buClr>
                <a:srgbClr val="0070C0"/>
              </a:buClr>
              <a:buFont typeface="Calibri" panose="020F0502020204030204" pitchFamily="34" charset="0"/>
              <a:buChar char="●"/>
            </a:pPr>
            <a:r>
              <a:rPr lang="en-US" sz="2400" dirty="0">
                <a:solidFill>
                  <a:srgbClr val="FFC000"/>
                </a:solidFill>
              </a:rPr>
              <a:t>GROUP BY</a:t>
            </a:r>
            <a:r>
              <a:rPr lang="en-US" sz="2400" dirty="0">
                <a:solidFill>
                  <a:schemeClr val="bg1"/>
                </a:solidFill>
              </a:rPr>
              <a:t>: It buckets the remaining employees by their </a:t>
            </a:r>
            <a:r>
              <a:rPr lang="en-US" sz="2400" dirty="0" err="1">
                <a:solidFill>
                  <a:schemeClr val="bg1"/>
                </a:solidFill>
              </a:rPr>
              <a:t>department_name</a:t>
            </a:r>
            <a:r>
              <a:rPr lang="en-US" sz="2400" dirty="0">
                <a:solidFill>
                  <a:schemeClr val="bg1"/>
                </a:solidFill>
              </a:rPr>
              <a:t> ('Engineering', 'Marketing', 'Sales’).</a:t>
            </a:r>
          </a:p>
          <a:p>
            <a:pPr marL="342900" indent="-342900" algn="just">
              <a:buClr>
                <a:srgbClr val="0070C0"/>
              </a:buClr>
              <a:buFont typeface="Calibri" panose="020F0502020204030204" pitchFamily="34" charset="0"/>
              <a:buChar char="●"/>
            </a:pPr>
            <a:r>
              <a:rPr lang="en-US" sz="2400" dirty="0">
                <a:solidFill>
                  <a:srgbClr val="FFC000"/>
                </a:solidFill>
              </a:rPr>
              <a:t>HAVING</a:t>
            </a:r>
            <a:r>
              <a:rPr lang="en-US" sz="2400" dirty="0">
                <a:solidFill>
                  <a:schemeClr val="bg1"/>
                </a:solidFill>
              </a:rPr>
              <a:t>: It sums up the salaries for each group and checks the condition.</a:t>
            </a:r>
          </a:p>
          <a:p>
            <a:pPr marL="800100" lvl="1" indent="-342900" algn="just">
              <a:buClr>
                <a:srgbClr val="0070C0"/>
              </a:buClr>
              <a:buFont typeface="Wingdings" panose="05000000000000000000" pitchFamily="2" charset="2"/>
              <a:buChar char="Ø"/>
            </a:pPr>
            <a:r>
              <a:rPr lang="en-US" sz="2400" dirty="0">
                <a:solidFill>
                  <a:srgbClr val="FF00FF"/>
                </a:solidFill>
              </a:rPr>
              <a:t>Robotics</a:t>
            </a:r>
            <a:r>
              <a:rPr lang="en-US" sz="2400" dirty="0">
                <a:solidFill>
                  <a:schemeClr val="bg1"/>
                </a:solidFill>
              </a:rPr>
              <a:t>: $120,000 (Sajid) + $95,000 (Ahmed) = $215,000 (Kept)</a:t>
            </a:r>
          </a:p>
          <a:p>
            <a:pPr marL="800100" lvl="1" indent="-342900" algn="just">
              <a:buClr>
                <a:srgbClr val="0070C0"/>
              </a:buClr>
              <a:buFont typeface="Wingdings" panose="05000000000000000000" pitchFamily="2" charset="2"/>
              <a:buChar char="Ø"/>
            </a:pPr>
            <a:r>
              <a:rPr lang="en-US" sz="2400" dirty="0">
                <a:solidFill>
                  <a:srgbClr val="FF00FF"/>
                </a:solidFill>
              </a:rPr>
              <a:t>Data Science</a:t>
            </a:r>
            <a:r>
              <a:rPr lang="en-US" sz="2400" dirty="0">
                <a:solidFill>
                  <a:schemeClr val="bg1"/>
                </a:solidFill>
              </a:rPr>
              <a:t>: $80,000 (Tarek) + $85,000 (</a:t>
            </a:r>
            <a:r>
              <a:rPr lang="en-US" sz="2400" dirty="0" err="1">
                <a:solidFill>
                  <a:schemeClr val="bg1"/>
                </a:solidFill>
              </a:rPr>
              <a:t>Seyaam</a:t>
            </a:r>
            <a:r>
              <a:rPr lang="en-US" sz="2400" dirty="0">
                <a:solidFill>
                  <a:schemeClr val="bg1"/>
                </a:solidFill>
              </a:rPr>
              <a:t>) = $165,000 (Kept)</a:t>
            </a:r>
          </a:p>
          <a:p>
            <a:pPr marL="800100" lvl="1" indent="-342900" algn="just">
              <a:buClr>
                <a:srgbClr val="0070C0"/>
              </a:buClr>
              <a:buFont typeface="Wingdings" panose="05000000000000000000" pitchFamily="2" charset="2"/>
              <a:buChar char="Ø"/>
            </a:pPr>
            <a:r>
              <a:rPr lang="en-US" sz="2400" dirty="0">
                <a:solidFill>
                  <a:srgbClr val="FF00FF"/>
                </a:solidFill>
              </a:rPr>
              <a:t>Networking</a:t>
            </a:r>
            <a:r>
              <a:rPr lang="en-US" sz="2400" dirty="0">
                <a:solidFill>
                  <a:schemeClr val="bg1"/>
                </a:solidFill>
              </a:rPr>
              <a:t>: $70,000 (</a:t>
            </a:r>
            <a:r>
              <a:rPr lang="en-US" sz="2400" dirty="0" err="1">
                <a:solidFill>
                  <a:schemeClr val="bg1"/>
                </a:solidFill>
              </a:rPr>
              <a:t>Nafis</a:t>
            </a:r>
            <a:r>
              <a:rPr lang="en-US" sz="2400" dirty="0">
                <a:solidFill>
                  <a:schemeClr val="bg1"/>
                </a:solidFill>
              </a:rPr>
              <a:t>) = $70,000 (Dropped because it is under $100,000)</a:t>
            </a:r>
          </a:p>
        </p:txBody>
      </p:sp>
      <p:sp>
        <p:nvSpPr>
          <p:cNvPr id="6" name="TextBox 5">
            <a:extLst>
              <a:ext uri="{FF2B5EF4-FFF2-40B4-BE49-F238E27FC236}">
                <a16:creationId xmlns:a16="http://schemas.microsoft.com/office/drawing/2014/main" id="{969BBCE3-C231-4F2C-AC52-EF3150E16AC2}"/>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 </a:t>
            </a:r>
            <a:r>
              <a:rPr lang="en-US" sz="5400" dirty="0">
                <a:solidFill>
                  <a:srgbClr val="FF00FF"/>
                </a:solidFill>
                <a:latin typeface="Roboto ExtraBold" panose="02000000000000000000" pitchFamily="2" charset="0"/>
                <a:ea typeface="Roboto ExtraBold" panose="02000000000000000000" pitchFamily="2" charset="0"/>
              </a:rPr>
              <a:t>Clauses</a:t>
            </a:r>
            <a:r>
              <a:rPr lang="en-US" sz="5400" dirty="0">
                <a:solidFill>
                  <a:schemeClr val="bg1"/>
                </a:solidFill>
                <a:latin typeface="Roboto ExtraBold" panose="02000000000000000000" pitchFamily="2" charset="0"/>
                <a:ea typeface="Roboto ExtraBold" panose="02000000000000000000" pitchFamily="2" charset="0"/>
              </a:rPr>
              <a:t> Example</a:t>
            </a:r>
          </a:p>
        </p:txBody>
      </p:sp>
    </p:spTree>
    <p:extLst>
      <p:ext uri="{BB962C8B-B14F-4D97-AF65-F5344CB8AC3E}">
        <p14:creationId xmlns:p14="http://schemas.microsoft.com/office/powerpoint/2010/main" val="8813569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13E589-1DF5-4D2D-892D-26A332E5AF98}"/>
              </a:ext>
            </a:extLst>
          </p:cNvPr>
          <p:cNvSpPr txBox="1"/>
          <p:nvPr/>
        </p:nvSpPr>
        <p:spPr>
          <a:xfrm>
            <a:off x="632963" y="1463641"/>
            <a:ext cx="10926072" cy="3416320"/>
          </a:xfrm>
          <a:prstGeom prst="rect">
            <a:avLst/>
          </a:prstGeom>
          <a:noFill/>
        </p:spPr>
        <p:txBody>
          <a:bodyPr wrap="square" rtlCol="0">
            <a:spAutoFit/>
          </a:bodyPr>
          <a:lstStyle/>
          <a:p>
            <a:pPr algn="just">
              <a:buClr>
                <a:srgbClr val="0070C0"/>
              </a:buClr>
            </a:pPr>
            <a:r>
              <a:rPr lang="en-US" sz="2400" dirty="0">
                <a:solidFill>
                  <a:srgbClr val="00B0F0"/>
                </a:solidFill>
              </a:rPr>
              <a:t>Step by Step breakdown</a:t>
            </a:r>
          </a:p>
          <a:p>
            <a:pPr algn="just">
              <a:buClr>
                <a:srgbClr val="0070C0"/>
              </a:buClr>
            </a:pPr>
            <a:endParaRPr lang="en-US" sz="2400" dirty="0">
              <a:solidFill>
                <a:srgbClr val="00B0F0"/>
              </a:solidFill>
            </a:endParaRPr>
          </a:p>
          <a:p>
            <a:pPr marL="342900" indent="-342900" algn="just">
              <a:buClr>
                <a:srgbClr val="0070C0"/>
              </a:buClr>
              <a:buFont typeface="Calibri" panose="020F0502020204030204" pitchFamily="34" charset="0"/>
              <a:buChar char="●"/>
            </a:pPr>
            <a:r>
              <a:rPr lang="en-US" sz="2400" dirty="0">
                <a:solidFill>
                  <a:srgbClr val="FFC000"/>
                </a:solidFill>
              </a:rPr>
              <a:t>SELECT</a:t>
            </a:r>
            <a:r>
              <a:rPr lang="en-US" sz="2400" dirty="0">
                <a:solidFill>
                  <a:schemeClr val="bg1"/>
                </a:solidFill>
              </a:rPr>
              <a:t>: It generates the final columns: the department name text and the calculated </a:t>
            </a:r>
            <a:r>
              <a:rPr lang="en-US" sz="2400" dirty="0" err="1">
                <a:solidFill>
                  <a:schemeClr val="bg1"/>
                </a:solidFill>
              </a:rPr>
              <a:t>total_payroll</a:t>
            </a:r>
            <a:r>
              <a:rPr lang="en-US" sz="2400" dirty="0">
                <a:solidFill>
                  <a:schemeClr val="bg1"/>
                </a:solidFill>
              </a:rPr>
              <a:t> sum.</a:t>
            </a:r>
          </a:p>
          <a:p>
            <a:pPr marL="342900" indent="-342900" algn="just">
              <a:buClr>
                <a:srgbClr val="0070C0"/>
              </a:buClr>
              <a:buFont typeface="Calibri" panose="020F0502020204030204" pitchFamily="34" charset="0"/>
              <a:buChar char="●"/>
            </a:pPr>
            <a:r>
              <a:rPr lang="en-US" sz="2400" dirty="0">
                <a:solidFill>
                  <a:srgbClr val="FFC000"/>
                </a:solidFill>
              </a:rPr>
              <a:t>ORDER BY</a:t>
            </a:r>
            <a:r>
              <a:rPr lang="en-US" sz="2400" dirty="0">
                <a:solidFill>
                  <a:schemeClr val="bg1"/>
                </a:solidFill>
              </a:rPr>
              <a:t>: It sorts the two remaining departments by </a:t>
            </a:r>
            <a:r>
              <a:rPr lang="en-US" sz="2400" dirty="0" err="1">
                <a:solidFill>
                  <a:schemeClr val="bg1"/>
                </a:solidFill>
              </a:rPr>
              <a:t>total_payroll</a:t>
            </a:r>
            <a:r>
              <a:rPr lang="en-US" sz="2400" dirty="0">
                <a:solidFill>
                  <a:schemeClr val="bg1"/>
                </a:solidFill>
              </a:rPr>
              <a:t> from highest to lowest ('Robotics' first, then ‘Data Science’).</a:t>
            </a:r>
          </a:p>
          <a:p>
            <a:pPr marL="342900" indent="-342900" algn="just">
              <a:buClr>
                <a:srgbClr val="0070C0"/>
              </a:buClr>
              <a:buFont typeface="Calibri" panose="020F0502020204030204" pitchFamily="34" charset="0"/>
              <a:buChar char="●"/>
            </a:pPr>
            <a:r>
              <a:rPr lang="en-US" sz="2400" dirty="0">
                <a:solidFill>
                  <a:srgbClr val="FFC000"/>
                </a:solidFill>
              </a:rPr>
              <a:t>LIMIT</a:t>
            </a:r>
            <a:r>
              <a:rPr lang="en-US" sz="2400" dirty="0">
                <a:solidFill>
                  <a:schemeClr val="bg1"/>
                </a:solidFill>
              </a:rPr>
              <a:t>: It clips the results to return only the 1st row.</a:t>
            </a:r>
          </a:p>
          <a:p>
            <a:pPr algn="just">
              <a:buClr>
                <a:srgbClr val="0070C0"/>
              </a:buClr>
            </a:pPr>
            <a:endParaRPr lang="en-US" sz="2400" dirty="0">
              <a:solidFill>
                <a:schemeClr val="bg1"/>
              </a:solidFill>
            </a:endParaRPr>
          </a:p>
          <a:p>
            <a:pPr algn="just">
              <a:buClr>
                <a:srgbClr val="0070C0"/>
              </a:buClr>
            </a:pPr>
            <a:r>
              <a:rPr lang="en-US" sz="2400" dirty="0">
                <a:solidFill>
                  <a:srgbClr val="00B0F0"/>
                </a:solidFill>
              </a:rPr>
              <a:t>Output Result:</a:t>
            </a:r>
          </a:p>
        </p:txBody>
      </p:sp>
      <p:pic>
        <p:nvPicPr>
          <p:cNvPr id="3" name="Picture 2">
            <a:extLst>
              <a:ext uri="{FF2B5EF4-FFF2-40B4-BE49-F238E27FC236}">
                <a16:creationId xmlns:a16="http://schemas.microsoft.com/office/drawing/2014/main" id="{E4AC7C71-32BF-48EE-A0E9-C2E7FFDD4F51}"/>
              </a:ext>
            </a:extLst>
          </p:cNvPr>
          <p:cNvPicPr>
            <a:picLocks noChangeAspect="1"/>
          </p:cNvPicPr>
          <p:nvPr/>
        </p:nvPicPr>
        <p:blipFill>
          <a:blip r:embed="rId2"/>
          <a:stretch>
            <a:fillRect/>
          </a:stretch>
        </p:blipFill>
        <p:spPr>
          <a:xfrm>
            <a:off x="2385876" y="4879961"/>
            <a:ext cx="3666427" cy="966211"/>
          </a:xfrm>
          <a:prstGeom prst="rect">
            <a:avLst/>
          </a:prstGeom>
        </p:spPr>
      </p:pic>
      <p:sp>
        <p:nvSpPr>
          <p:cNvPr id="6" name="TextBox 5">
            <a:extLst>
              <a:ext uri="{FF2B5EF4-FFF2-40B4-BE49-F238E27FC236}">
                <a16:creationId xmlns:a16="http://schemas.microsoft.com/office/drawing/2014/main" id="{8842C67D-B6E9-4340-95AC-AF1C9632499C}"/>
              </a:ext>
            </a:extLst>
          </p:cNvPr>
          <p:cNvSpPr txBox="1"/>
          <p:nvPr/>
        </p:nvSpPr>
        <p:spPr>
          <a:xfrm>
            <a:off x="2385876" y="540311"/>
            <a:ext cx="7420246" cy="923330"/>
          </a:xfrm>
          <a:prstGeom prst="rect">
            <a:avLst/>
          </a:prstGeom>
          <a:noFill/>
        </p:spPr>
        <p:txBody>
          <a:bodyPr wrap="square" rtlCol="0">
            <a:spAutoFit/>
          </a:bodyPr>
          <a:lstStyle/>
          <a:p>
            <a:pPr algn="ctr"/>
            <a:r>
              <a:rPr lang="en-US" sz="5400" dirty="0">
                <a:solidFill>
                  <a:srgbClr val="FFFF00"/>
                </a:solidFill>
                <a:latin typeface="Roboto ExtraBold" panose="02000000000000000000" pitchFamily="2" charset="0"/>
                <a:ea typeface="Roboto ExtraBold" panose="02000000000000000000" pitchFamily="2" charset="0"/>
              </a:rPr>
              <a:t>SQL </a:t>
            </a:r>
            <a:r>
              <a:rPr lang="en-US" sz="5400" dirty="0">
                <a:solidFill>
                  <a:srgbClr val="FF00FF"/>
                </a:solidFill>
                <a:latin typeface="Roboto ExtraBold" panose="02000000000000000000" pitchFamily="2" charset="0"/>
                <a:ea typeface="Roboto ExtraBold" panose="02000000000000000000" pitchFamily="2" charset="0"/>
              </a:rPr>
              <a:t>Clauses</a:t>
            </a:r>
            <a:r>
              <a:rPr lang="en-US" sz="5400" dirty="0">
                <a:solidFill>
                  <a:schemeClr val="bg1"/>
                </a:solidFill>
                <a:latin typeface="Roboto ExtraBold" panose="02000000000000000000" pitchFamily="2" charset="0"/>
                <a:ea typeface="Roboto ExtraBold" panose="02000000000000000000" pitchFamily="2" charset="0"/>
              </a:rPr>
              <a:t> Example</a:t>
            </a:r>
          </a:p>
        </p:txBody>
      </p:sp>
    </p:spTree>
    <p:extLst>
      <p:ext uri="{BB962C8B-B14F-4D97-AF65-F5344CB8AC3E}">
        <p14:creationId xmlns:p14="http://schemas.microsoft.com/office/powerpoint/2010/main" val="36540486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3649</Words>
  <Application>Microsoft Office PowerPoint</Application>
  <PresentationFormat>Widescreen</PresentationFormat>
  <Paragraphs>345</Paragraphs>
  <Slides>64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-apple-system</vt:lpstr>
      <vt:lpstr>Arial</vt:lpstr>
      <vt:lpstr>Calibri</vt:lpstr>
      <vt:lpstr>Calibri Light</vt:lpstr>
      <vt:lpstr>Roboto ExtraBold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Sajid Ahmed</dc:creator>
  <cp:lastModifiedBy>Sajid Ahmed</cp:lastModifiedBy>
  <cp:revision>45</cp:revision>
  <dcterms:created xsi:type="dcterms:W3CDTF">2026-09-25T10:52:52Z</dcterms:created>
  <dcterms:modified xsi:type="dcterms:W3CDTF">2026-09-26T18:09:17Z</dcterms:modified>
</cp:coreProperties>
</file>